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a:t>
            </a:r>
          </a:p>
        </p:txBody>
      </p:sp>
      <p:sp>
        <p:nvSpPr>
          <p:cNvPr id="7" name="TextBox 6"/>
          <p:cNvSpPr txBox="1"/>
          <p:nvPr/>
        </p:nvSpPr>
        <p:spPr>
          <a:xfrm>
            <a:off x="731520" y="731520"/>
            <a:ext cx="9144000" cy="457200"/>
          </a:xfrm>
          <a:prstGeom prst="rect">
            <a:avLst/>
          </a:prstGeom>
          <a:noFill/>
        </p:spPr>
        <p:txBody>
          <a:bodyPr wrap="square">
            <a:spAutoFit/>
          </a:bodyPr>
          <a:lstStyle/>
          <a:p>
            <a:pPr algn="l">
              <a:defRPr sz="1200" b="1" i="0">
                <a:solidFill>
                  <a:srgbClr val="F6AD55"/>
                </a:solidFill>
                <a:latin typeface="Arial"/>
              </a:defRPr>
            </a:pPr>
            <a:r>
              <a:t>PROPOSED FINAL-YEAR BE / B.TECH CSE PROJECT</a:t>
            </a:r>
          </a:p>
        </p:txBody>
      </p:sp>
      <p:sp>
        <p:nvSpPr>
          <p:cNvPr id="8" name="TextBox 7"/>
          <p:cNvSpPr txBox="1"/>
          <p:nvPr/>
        </p:nvSpPr>
        <p:spPr>
          <a:xfrm>
            <a:off x="731520" y="1371600"/>
            <a:ext cx="10972800" cy="1645920"/>
          </a:xfrm>
          <a:prstGeom prst="rect">
            <a:avLst/>
          </a:prstGeom>
          <a:noFill/>
        </p:spPr>
        <p:txBody>
          <a:bodyPr wrap="square">
            <a:spAutoFit/>
          </a:bodyPr>
          <a:lstStyle/>
          <a:p>
            <a:pPr algn="l">
              <a:defRPr sz="4200" b="1" i="0">
                <a:solidFill>
                  <a:srgbClr val="FFFFFF"/>
                </a:solidFill>
                <a:latin typeface="Arial"/>
              </a:defRPr>
            </a:pPr>
            <a:r>
              <a:t>Fuzzy-Causal Evidence Attribution for</a:t>
            </a:r>
            <a:br/>
            <a:r>
              <a:t>Explainable RAG-Based Fact-Checking</a:t>
            </a:r>
          </a:p>
        </p:txBody>
      </p:sp>
      <p:sp>
        <p:nvSpPr>
          <p:cNvPr id="9" name="TextBox 8"/>
          <p:cNvSpPr txBox="1"/>
          <p:nvPr/>
        </p:nvSpPr>
        <p:spPr>
          <a:xfrm>
            <a:off x="731520" y="3017520"/>
            <a:ext cx="10972800" cy="457200"/>
          </a:xfrm>
          <a:prstGeom prst="rect">
            <a:avLst/>
          </a:prstGeom>
          <a:noFill/>
        </p:spPr>
        <p:txBody>
          <a:bodyPr wrap="square">
            <a:spAutoFit/>
          </a:bodyPr>
          <a:lstStyle/>
          <a:p>
            <a:pPr algn="l">
              <a:defRPr sz="1800" b="0" i="1">
                <a:solidFill>
                  <a:srgbClr val="4FD1C5"/>
                </a:solidFill>
                <a:latin typeface="Arial"/>
              </a:defRPr>
            </a:pPr>
            <a:r>
              <a:t>Research-Inspired Extension of 'Explaining the Role of Evidence in Data-Driven Fact-Checking'</a:t>
            </a:r>
          </a:p>
        </p:txBody>
      </p:sp>
      <p:sp>
        <p:nvSpPr>
          <p:cNvPr id="10" name="Rounded Rectangle 9"/>
          <p:cNvSpPr/>
          <p:nvPr/>
        </p:nvSpPr>
        <p:spPr>
          <a:xfrm>
            <a:off x="731520"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Claim</a:t>
            </a:r>
          </a:p>
        </p:txBody>
      </p:sp>
      <p:sp>
        <p:nvSpPr>
          <p:cNvPr id="11" name="Right Arrow 10"/>
          <p:cNvSpPr/>
          <p:nvPr/>
        </p:nvSpPr>
        <p:spPr>
          <a:xfrm>
            <a:off x="256032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26080"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Evidence</a:t>
            </a:r>
            <a:br/>
            <a:r>
              <a:t>Retrieval</a:t>
            </a:r>
          </a:p>
        </p:txBody>
      </p:sp>
      <p:sp>
        <p:nvSpPr>
          <p:cNvPr id="13" name="Right Arrow 12"/>
          <p:cNvSpPr/>
          <p:nvPr/>
        </p:nvSpPr>
        <p:spPr>
          <a:xfrm>
            <a:off x="4754879"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Verification</a:t>
            </a:r>
          </a:p>
        </p:txBody>
      </p:sp>
      <p:sp>
        <p:nvSpPr>
          <p:cNvPr id="15" name="Right Arrow 14"/>
          <p:cNvSpPr/>
          <p:nvPr/>
        </p:nvSpPr>
        <p:spPr>
          <a:xfrm>
            <a:off x="694944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199"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Attribution</a:t>
            </a:r>
          </a:p>
        </p:txBody>
      </p:sp>
      <p:sp>
        <p:nvSpPr>
          <p:cNvPr id="17" name="Right Arrow 16"/>
          <p:cNvSpPr/>
          <p:nvPr/>
        </p:nvSpPr>
        <p:spPr>
          <a:xfrm>
            <a:off x="9144000"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09760"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Intervention</a:t>
            </a:r>
          </a:p>
        </p:txBody>
      </p:sp>
      <p:sp>
        <p:nvSpPr>
          <p:cNvPr id="19" name="Right Arrow 18"/>
          <p:cNvSpPr/>
          <p:nvPr/>
        </p:nvSpPr>
        <p:spPr>
          <a:xfrm>
            <a:off x="11338559" y="4187952"/>
            <a:ext cx="365760" cy="36576"/>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704320" y="3840480"/>
            <a:ext cx="18288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Fuzzy</a:t>
            </a:r>
            <a:br/>
            <a:r>
              <a:t>Reliability</a:t>
            </a:r>
          </a:p>
        </p:txBody>
      </p:sp>
      <p:sp>
        <p:nvSpPr>
          <p:cNvPr id="21" name="TextBox 20"/>
          <p:cNvSpPr txBox="1"/>
          <p:nvPr/>
        </p:nvSpPr>
        <p:spPr>
          <a:xfrm>
            <a:off x="731520" y="5486400"/>
            <a:ext cx="4572000" cy="457200"/>
          </a:xfrm>
          <a:prstGeom prst="rect">
            <a:avLst/>
          </a:prstGeom>
          <a:noFill/>
        </p:spPr>
        <p:txBody>
          <a:bodyPr wrap="square">
            <a:spAutoFit/>
          </a:bodyPr>
          <a:lstStyle/>
          <a:p>
            <a:pPr algn="l">
              <a:defRPr sz="1200" b="1" i="0">
                <a:solidFill>
                  <a:srgbClr val="F6AD55"/>
                </a:solidFill>
                <a:latin typeface="Arial"/>
              </a:defRPr>
            </a:pPr>
            <a:r>
              <a:t>PROJECT TEAM</a:t>
            </a:r>
          </a:p>
        </p:txBody>
      </p:sp>
      <p:sp>
        <p:nvSpPr>
          <p:cNvPr id="22" name="Rectangle 21"/>
          <p:cNvSpPr/>
          <p:nvPr/>
        </p:nvSpPr>
        <p:spPr>
          <a:xfrm>
            <a:off x="731520" y="5120640"/>
            <a:ext cx="12801600" cy="9144"/>
          </a:xfrm>
          <a:prstGeom prst="rect">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5943600"/>
            <a:ext cx="4023360" cy="11887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FFFFF"/>
                </a:solidFill>
                <a:latin typeface="Arial"/>
              </a:defRPr>
            </a:pPr>
          </a:p>
        </p:txBody>
      </p:sp>
      <p:sp>
        <p:nvSpPr>
          <p:cNvPr id="24" name="Oval 23"/>
          <p:cNvSpPr/>
          <p:nvPr/>
        </p:nvSpPr>
        <p:spPr>
          <a:xfrm>
            <a:off x="91440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0B172C"/>
                </a:solidFill>
                <a:latin typeface="Arial"/>
              </a:defRPr>
            </a:pPr>
            <a:r>
              <a:t>BD</a:t>
            </a:r>
          </a:p>
        </p:txBody>
      </p:sp>
      <p:sp>
        <p:nvSpPr>
          <p:cNvPr id="25" name="TextBox 24"/>
          <p:cNvSpPr txBox="1"/>
          <p:nvPr/>
        </p:nvSpPr>
        <p:spPr>
          <a:xfrm>
            <a:off x="1737360" y="6126480"/>
            <a:ext cx="2743200" cy="365760"/>
          </a:xfrm>
          <a:prstGeom prst="rect">
            <a:avLst/>
          </a:prstGeom>
          <a:noFill/>
        </p:spPr>
        <p:txBody>
          <a:bodyPr wrap="square">
            <a:spAutoFit/>
          </a:bodyPr>
          <a:lstStyle/>
          <a:p>
            <a:pPr algn="l">
              <a:defRPr sz="1400" b="1" i="0">
                <a:solidFill>
                  <a:srgbClr val="FFFFFF"/>
                </a:solidFill>
                <a:latin typeface="Arial"/>
              </a:defRPr>
            </a:pPr>
            <a:r>
              <a:t>Bala Dheeraj Chennavaram</a:t>
            </a:r>
          </a:p>
        </p:txBody>
      </p:sp>
      <p:sp>
        <p:nvSpPr>
          <p:cNvPr id="26" name="TextBox 25"/>
          <p:cNvSpPr txBox="1"/>
          <p:nvPr/>
        </p:nvSpPr>
        <p:spPr>
          <a:xfrm>
            <a:off x="1737360" y="6400800"/>
            <a:ext cx="2743200" cy="365760"/>
          </a:xfrm>
          <a:prstGeom prst="rect">
            <a:avLst/>
          </a:prstGeom>
          <a:noFill/>
        </p:spPr>
        <p:txBody>
          <a:bodyPr wrap="square">
            <a:spAutoFit/>
          </a:bodyPr>
          <a:lstStyle/>
          <a:p>
            <a:pPr algn="l">
              <a:defRPr sz="1200" b="0" i="0">
                <a:solidFill>
                  <a:srgbClr val="4FD1C5"/>
                </a:solidFill>
                <a:latin typeface="Arial"/>
              </a:defRPr>
            </a:pPr>
            <a:r>
              <a:t>1602-23-733-006</a:t>
            </a:r>
          </a:p>
        </p:txBody>
      </p:sp>
      <p:sp>
        <p:nvSpPr>
          <p:cNvPr id="27" name="Rounded Rectangle 26"/>
          <p:cNvSpPr/>
          <p:nvPr/>
        </p:nvSpPr>
        <p:spPr>
          <a:xfrm>
            <a:off x="5120640" y="5943600"/>
            <a:ext cx="4023360" cy="11887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FFFFF"/>
                </a:solidFill>
                <a:latin typeface="Arial"/>
              </a:defRPr>
            </a:pPr>
          </a:p>
        </p:txBody>
      </p:sp>
      <p:sp>
        <p:nvSpPr>
          <p:cNvPr id="28" name="Oval 27"/>
          <p:cNvSpPr/>
          <p:nvPr/>
        </p:nvSpPr>
        <p:spPr>
          <a:xfrm>
            <a:off x="530352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0B172C"/>
                </a:solidFill>
                <a:latin typeface="Arial"/>
              </a:defRPr>
            </a:pPr>
            <a:r>
              <a:t>AS</a:t>
            </a:r>
          </a:p>
        </p:txBody>
      </p:sp>
      <p:sp>
        <p:nvSpPr>
          <p:cNvPr id="29" name="TextBox 28"/>
          <p:cNvSpPr txBox="1"/>
          <p:nvPr/>
        </p:nvSpPr>
        <p:spPr>
          <a:xfrm>
            <a:off x="6126479" y="6126480"/>
            <a:ext cx="2743200" cy="365760"/>
          </a:xfrm>
          <a:prstGeom prst="rect">
            <a:avLst/>
          </a:prstGeom>
          <a:noFill/>
        </p:spPr>
        <p:txBody>
          <a:bodyPr wrap="square">
            <a:spAutoFit/>
          </a:bodyPr>
          <a:lstStyle/>
          <a:p>
            <a:pPr algn="l">
              <a:defRPr sz="1400" b="1" i="0">
                <a:solidFill>
                  <a:srgbClr val="FFFFFF"/>
                </a:solidFill>
                <a:latin typeface="Arial"/>
              </a:defRPr>
            </a:pPr>
            <a:r>
              <a:t>A Saketh Vamshee</a:t>
            </a:r>
          </a:p>
        </p:txBody>
      </p:sp>
      <p:sp>
        <p:nvSpPr>
          <p:cNvPr id="30" name="TextBox 29"/>
          <p:cNvSpPr txBox="1"/>
          <p:nvPr/>
        </p:nvSpPr>
        <p:spPr>
          <a:xfrm>
            <a:off x="6126479" y="6400800"/>
            <a:ext cx="2743200" cy="365760"/>
          </a:xfrm>
          <a:prstGeom prst="rect">
            <a:avLst/>
          </a:prstGeom>
          <a:noFill/>
        </p:spPr>
        <p:txBody>
          <a:bodyPr wrap="square">
            <a:spAutoFit/>
          </a:bodyPr>
          <a:lstStyle/>
          <a:p>
            <a:pPr algn="l">
              <a:defRPr sz="1200" b="0" i="0">
                <a:solidFill>
                  <a:srgbClr val="4FD1C5"/>
                </a:solidFill>
                <a:latin typeface="Arial"/>
              </a:defRPr>
            </a:pPr>
            <a:r>
              <a:t>1602-23-733-042</a:t>
            </a:r>
          </a:p>
        </p:txBody>
      </p:sp>
      <p:sp>
        <p:nvSpPr>
          <p:cNvPr id="31" name="Rounded Rectangle 30"/>
          <p:cNvSpPr/>
          <p:nvPr/>
        </p:nvSpPr>
        <p:spPr>
          <a:xfrm>
            <a:off x="9509760" y="5943600"/>
            <a:ext cx="4023360" cy="11887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FFFFF"/>
                </a:solidFill>
                <a:latin typeface="Arial"/>
              </a:defRPr>
            </a:pPr>
          </a:p>
        </p:txBody>
      </p:sp>
      <p:sp>
        <p:nvSpPr>
          <p:cNvPr id="32" name="Oval 31"/>
          <p:cNvSpPr/>
          <p:nvPr/>
        </p:nvSpPr>
        <p:spPr>
          <a:xfrm>
            <a:off x="9692640" y="6172200"/>
            <a:ext cx="731520" cy="731520"/>
          </a:xfrm>
          <a:prstGeom prst="ellipse">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0B172C"/>
                </a:solidFill>
                <a:latin typeface="Arial"/>
              </a:defRPr>
            </a:pPr>
            <a:r>
              <a:t>VR</a:t>
            </a:r>
          </a:p>
        </p:txBody>
      </p:sp>
      <p:sp>
        <p:nvSpPr>
          <p:cNvPr id="33" name="TextBox 32"/>
          <p:cNvSpPr txBox="1"/>
          <p:nvPr/>
        </p:nvSpPr>
        <p:spPr>
          <a:xfrm>
            <a:off x="10515600" y="6126480"/>
            <a:ext cx="2743200" cy="365760"/>
          </a:xfrm>
          <a:prstGeom prst="rect">
            <a:avLst/>
          </a:prstGeom>
          <a:noFill/>
        </p:spPr>
        <p:txBody>
          <a:bodyPr wrap="square">
            <a:spAutoFit/>
          </a:bodyPr>
          <a:lstStyle/>
          <a:p>
            <a:pPr algn="l">
              <a:defRPr sz="1400" b="1" i="0">
                <a:solidFill>
                  <a:srgbClr val="FFFFFF"/>
                </a:solidFill>
                <a:latin typeface="Arial"/>
              </a:defRPr>
            </a:pPr>
            <a:r>
              <a:t>V Rohit Reddy</a:t>
            </a:r>
          </a:p>
        </p:txBody>
      </p:sp>
      <p:sp>
        <p:nvSpPr>
          <p:cNvPr id="34" name="TextBox 33"/>
          <p:cNvSpPr txBox="1"/>
          <p:nvPr/>
        </p:nvSpPr>
        <p:spPr>
          <a:xfrm>
            <a:off x="10515600" y="6400800"/>
            <a:ext cx="2743200" cy="365760"/>
          </a:xfrm>
          <a:prstGeom prst="rect">
            <a:avLst/>
          </a:prstGeom>
          <a:noFill/>
        </p:spPr>
        <p:txBody>
          <a:bodyPr wrap="square">
            <a:spAutoFit/>
          </a:bodyPr>
          <a:lstStyle/>
          <a:p>
            <a:pPr algn="l">
              <a:defRPr sz="1200" b="0" i="0">
                <a:solidFill>
                  <a:srgbClr val="4FD1C5"/>
                </a:solidFill>
                <a:latin typeface="Arial"/>
              </a:defRPr>
            </a:pPr>
            <a:r>
              <a:t>1602-23-733-065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2</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PROJECT DOMAIN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Area</a:t>
            </a:r>
          </a:p>
        </p:txBody>
      </p:sp>
      <p:sp>
        <p:nvSpPr>
          <p:cNvPr id="9" name="Rounded Rectangle 8"/>
          <p:cNvSpPr/>
          <p:nvPr/>
        </p:nvSpPr>
        <p:spPr>
          <a:xfrm>
            <a:off x="914400" y="25603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Explainable Artificial Intelligence (XAI)</a:t>
            </a:r>
          </a:p>
        </p:txBody>
      </p:sp>
      <p:sp>
        <p:nvSpPr>
          <p:cNvPr id="10" name="Rounded Rectangle 9"/>
          <p:cNvSpPr/>
          <p:nvPr/>
        </p:nvSpPr>
        <p:spPr>
          <a:xfrm>
            <a:off x="914400" y="34747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Natural Language Processing (NLP)</a:t>
            </a:r>
          </a:p>
        </p:txBody>
      </p:sp>
      <p:sp>
        <p:nvSpPr>
          <p:cNvPr id="11" name="Rounded Rectangle 10"/>
          <p:cNvSpPr/>
          <p:nvPr/>
        </p:nvSpPr>
        <p:spPr>
          <a:xfrm>
            <a:off x="914400" y="43891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Retrieval-Augmented Generation (RAG)</a:t>
            </a:r>
          </a:p>
        </p:txBody>
      </p:sp>
      <p:sp>
        <p:nvSpPr>
          <p:cNvPr id="12" name="Rounded Rectangle 11"/>
          <p:cNvSpPr/>
          <p:nvPr/>
        </p:nvSpPr>
        <p:spPr>
          <a:xfrm>
            <a:off x="914400" y="53035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Language Models / NLI</a:t>
            </a:r>
          </a:p>
        </p:txBody>
      </p:sp>
      <p:sp>
        <p:nvSpPr>
          <p:cNvPr id="13" name="Rounded Rectangle 12"/>
          <p:cNvSpPr/>
          <p:nvPr/>
        </p:nvSpPr>
        <p:spPr>
          <a:xfrm>
            <a:off x="7315200" y="25603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Automated Fact-Checking</a:t>
            </a:r>
          </a:p>
        </p:txBody>
      </p:sp>
      <p:sp>
        <p:nvSpPr>
          <p:cNvPr id="14" name="Rounded Rectangle 13"/>
          <p:cNvSpPr/>
          <p:nvPr/>
        </p:nvSpPr>
        <p:spPr>
          <a:xfrm>
            <a:off x="7315200" y="34747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Evidence Attribution</a:t>
            </a:r>
          </a:p>
        </p:txBody>
      </p:sp>
      <p:sp>
        <p:nvSpPr>
          <p:cNvPr id="15" name="Rounded Rectangle 14"/>
          <p:cNvSpPr/>
          <p:nvPr/>
        </p:nvSpPr>
        <p:spPr>
          <a:xfrm>
            <a:off x="7315200" y="43891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Intervention Analysis</a:t>
            </a:r>
          </a:p>
        </p:txBody>
      </p:sp>
      <p:sp>
        <p:nvSpPr>
          <p:cNvPr id="16" name="Rounded Rectangle 15"/>
          <p:cNvSpPr/>
          <p:nvPr/>
        </p:nvSpPr>
        <p:spPr>
          <a:xfrm>
            <a:off x="7315200" y="5303520"/>
            <a:ext cx="59436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Fuzzy Logic</a:t>
            </a:r>
          </a:p>
        </p:txBody>
      </p:sp>
      <p:sp>
        <p:nvSpPr>
          <p:cNvPr id="17" name="TextBox 16"/>
          <p:cNvSpPr txBox="1"/>
          <p:nvPr/>
        </p:nvSpPr>
        <p:spPr>
          <a:xfrm>
            <a:off x="914400" y="6217920"/>
            <a:ext cx="12801600" cy="457200"/>
          </a:xfrm>
          <a:prstGeom prst="rect">
            <a:avLst/>
          </a:prstGeom>
          <a:noFill/>
        </p:spPr>
        <p:txBody>
          <a:bodyPr wrap="square">
            <a:spAutoFit/>
          </a:bodyPr>
          <a:lstStyle/>
          <a:p>
            <a:pPr algn="l">
              <a:defRPr sz="2000" b="1" i="0">
                <a:solidFill>
                  <a:srgbClr val="F6AD55"/>
                </a:solidFill>
                <a:latin typeface="Arial"/>
              </a:defRPr>
            </a:pPr>
            <a:r>
              <a:t>Research Focus</a:t>
            </a:r>
          </a:p>
        </p:txBody>
      </p:sp>
      <p:sp>
        <p:nvSpPr>
          <p:cNvPr id="18" name="TextBox 17"/>
          <p:cNvSpPr txBox="1"/>
          <p:nvPr/>
        </p:nvSpPr>
        <p:spPr>
          <a:xfrm>
            <a:off x="914400" y="6675120"/>
            <a:ext cx="12801600" cy="914400"/>
          </a:xfrm>
          <a:prstGeom prst="rect">
            <a:avLst/>
          </a:prstGeom>
          <a:noFill/>
        </p:spPr>
        <p:txBody>
          <a:bodyPr wrap="square">
            <a:spAutoFit/>
          </a:bodyPr>
          <a:lstStyle/>
          <a:p>
            <a:pPr algn="l">
              <a:defRPr sz="1800" b="0" i="0">
                <a:solidFill>
                  <a:srgbClr val="A0AEC0"/>
                </a:solidFill>
                <a:latin typeface="Arial"/>
              </a:defRPr>
            </a:pPr>
            <a:r>
              <a:t>Improving the faithfulness and reliability of evidence-level explanations in RAG-based fact-checking by combining post-hoc attribution, intervention-based influence testing, and fuzzy evidence reasoning.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3</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PROJECT SUMMARY</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Abstract</a:t>
            </a:r>
          </a:p>
        </p:txBody>
      </p:sp>
      <p:sp>
        <p:nvSpPr>
          <p:cNvPr id="9" name="TextBox 8"/>
          <p:cNvSpPr txBox="1"/>
          <p:nvPr/>
        </p:nvSpPr>
        <p:spPr>
          <a:xfrm>
            <a:off x="914400" y="2011680"/>
            <a:ext cx="8229600" cy="4572000"/>
          </a:xfrm>
          <a:prstGeom prst="rect">
            <a:avLst/>
          </a:prstGeom>
          <a:noFill/>
        </p:spPr>
        <p:txBody>
          <a:bodyPr wrap="square">
            <a:spAutoFit/>
          </a:bodyPr>
          <a:lstStyle/>
          <a:p>
            <a:pPr algn="l">
              <a:defRPr sz="1800" b="0" i="0">
                <a:solidFill>
                  <a:srgbClr val="FFFFFF"/>
                </a:solidFill>
                <a:latin typeface="Arial"/>
              </a:defRPr>
            </a:pPr>
            <a:r>
              <a:t>Automated fact-checking systems can determine whether a claim is supported, refuted, or uncertain, but explaining which evidence actually drives the decision remains challenging.</a:t>
            </a:r>
            <a:br/>
            <a:br/>
            <a:r>
              <a:t>The proposed project extends an IEEE study on evidence-level attribution using SHAP and LIME into an explainable RAG-based fact-checking pipeline. The system dynamically retrieves evidence using hybrid lexical and semantic search, verifies claims with a language model, estimates evidence attribution, and then performs intervention-based tests to determine whether influential evidence actually changes the decision.</a:t>
            </a:r>
            <a:br/>
            <a:br/>
            <a:r>
              <a:t>A fuzzy reasoning layer combines relevance, attribution, causal influence, contradiction, source reliability, and explanation stability into continuous evidence and reliability scores. The system also handles conflicting evidence and produces an auditable explanation containing the verdict, influential evidence, confidence, and explanation reliability.</a:t>
            </a:r>
          </a:p>
        </p:txBody>
      </p:sp>
      <p:sp>
        <p:nvSpPr>
          <p:cNvPr id="10" name="Rounded Rectangle 9"/>
          <p:cNvSpPr/>
          <p:nvPr/>
        </p:nvSpPr>
        <p:spPr>
          <a:xfrm>
            <a:off x="10515600" y="164592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Claim</a:t>
            </a:r>
          </a:p>
        </p:txBody>
      </p:sp>
      <p:sp>
        <p:nvSpPr>
          <p:cNvPr id="11" name="Down Arrow 10"/>
          <p:cNvSpPr/>
          <p:nvPr/>
        </p:nvSpPr>
        <p:spPr>
          <a:xfrm>
            <a:off x="12024360" y="214884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0" y="242316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Retrieve</a:t>
            </a:r>
          </a:p>
        </p:txBody>
      </p:sp>
      <p:sp>
        <p:nvSpPr>
          <p:cNvPr id="13" name="Down Arrow 12"/>
          <p:cNvSpPr/>
          <p:nvPr/>
        </p:nvSpPr>
        <p:spPr>
          <a:xfrm>
            <a:off x="12024360" y="292608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515600" y="320040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Verify</a:t>
            </a:r>
          </a:p>
        </p:txBody>
      </p:sp>
      <p:sp>
        <p:nvSpPr>
          <p:cNvPr id="15" name="Down Arrow 14"/>
          <p:cNvSpPr/>
          <p:nvPr/>
        </p:nvSpPr>
        <p:spPr>
          <a:xfrm>
            <a:off x="12024360" y="370332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515600" y="3977639"/>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Attribute</a:t>
            </a:r>
          </a:p>
        </p:txBody>
      </p:sp>
      <p:sp>
        <p:nvSpPr>
          <p:cNvPr id="17" name="Down Arrow 16"/>
          <p:cNvSpPr/>
          <p:nvPr/>
        </p:nvSpPr>
        <p:spPr>
          <a:xfrm>
            <a:off x="12024360" y="448056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515600" y="475488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Intervene</a:t>
            </a:r>
          </a:p>
        </p:txBody>
      </p:sp>
      <p:sp>
        <p:nvSpPr>
          <p:cNvPr id="19" name="Down Arrow 18"/>
          <p:cNvSpPr/>
          <p:nvPr/>
        </p:nvSpPr>
        <p:spPr>
          <a:xfrm>
            <a:off x="12024360" y="525780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515600" y="5532120"/>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Fuzzy Reasoning</a:t>
            </a:r>
          </a:p>
        </p:txBody>
      </p:sp>
      <p:sp>
        <p:nvSpPr>
          <p:cNvPr id="21" name="Down Arrow 20"/>
          <p:cNvSpPr/>
          <p:nvPr/>
        </p:nvSpPr>
        <p:spPr>
          <a:xfrm>
            <a:off x="12024360" y="6035040"/>
            <a:ext cx="182880" cy="2743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515600" y="6309359"/>
            <a:ext cx="3200400" cy="5029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Reliable Explanation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4</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MOTIVATION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Problem Description</a:t>
            </a:r>
          </a:p>
        </p:txBody>
      </p:sp>
      <p:sp>
        <p:nvSpPr>
          <p:cNvPr id="9" name="TextBox 8"/>
          <p:cNvSpPr txBox="1"/>
          <p:nvPr/>
        </p:nvSpPr>
        <p:spPr>
          <a:xfrm>
            <a:off x="914400" y="1645920"/>
            <a:ext cx="12801600" cy="457200"/>
          </a:xfrm>
          <a:prstGeom prst="rect">
            <a:avLst/>
          </a:prstGeom>
          <a:noFill/>
        </p:spPr>
        <p:txBody>
          <a:bodyPr wrap="square">
            <a:spAutoFit/>
          </a:bodyPr>
          <a:lstStyle/>
          <a:p>
            <a:pPr algn="l">
              <a:defRPr sz="2000" b="1" i="0">
                <a:solidFill>
                  <a:srgbClr val="F6AD55"/>
                </a:solidFill>
                <a:latin typeface="Arial"/>
              </a:defRPr>
            </a:pPr>
            <a:r>
              <a:t>Existing Problem</a:t>
            </a:r>
          </a:p>
        </p:txBody>
      </p:sp>
      <p:sp>
        <p:nvSpPr>
          <p:cNvPr id="10" name="TextBox 9"/>
          <p:cNvSpPr txBox="1"/>
          <p:nvPr/>
        </p:nvSpPr>
        <p:spPr>
          <a:xfrm>
            <a:off x="914400" y="2103120"/>
            <a:ext cx="12801600" cy="914400"/>
          </a:xfrm>
          <a:prstGeom prst="rect">
            <a:avLst/>
          </a:prstGeom>
          <a:noFill/>
        </p:spPr>
        <p:txBody>
          <a:bodyPr wrap="square">
            <a:spAutoFit/>
          </a:bodyPr>
          <a:lstStyle/>
          <a:p>
            <a:pPr algn="l">
              <a:defRPr sz="1600" b="0" i="0">
                <a:solidFill>
                  <a:srgbClr val="FFFFFF"/>
                </a:solidFill>
                <a:latin typeface="Arial"/>
              </a:defRPr>
            </a:pPr>
            <a:r>
              <a:t>Current evidence-based fact-checking systems may produce a verdict without clearly establishing why specific evidence influenced it. </a:t>
            </a:r>
            <a:br/>
            <a:r>
              <a:t>Limitations of current explainability approaches include:</a:t>
            </a:r>
          </a:p>
        </p:txBody>
      </p:sp>
      <p:sp>
        <p:nvSpPr>
          <p:cNvPr id="11" name="TextBox 10"/>
          <p:cNvSpPr txBox="1"/>
          <p:nvPr/>
        </p:nvSpPr>
        <p:spPr>
          <a:xfrm>
            <a:off x="914400" y="2743200"/>
            <a:ext cx="12801600" cy="1371600"/>
          </a:xfrm>
          <a:prstGeom prst="rect">
            <a:avLst/>
          </a:prstGeom>
          <a:noFill/>
        </p:spPr>
        <p:txBody>
          <a:bodyPr wrap="none">
            <a:spAutoFit/>
          </a:bodyPr>
          <a:lstStyle/>
          <a:p/>
          <a:p>
            <a:pPr>
              <a:defRPr sz="1500">
                <a:solidFill>
                  <a:srgbClr val="A0AEC0"/>
                </a:solidFill>
                <a:latin typeface="Arial"/>
              </a:defRPr>
            </a:pPr>
            <a:r>
              <a:t>- Attribution may reflect correlation or perturbation effects</a:t>
            </a:r>
          </a:p>
          <a:p>
            <a:pPr>
              <a:defRPr sz="1500">
                <a:solidFill>
                  <a:srgbClr val="A0AEC0"/>
                </a:solidFill>
                <a:latin typeface="Arial"/>
              </a:defRPr>
            </a:pPr>
            <a:r>
              <a:t>- Useful/Noise binary view is too rigid</a:t>
            </a:r>
          </a:p>
          <a:p>
            <a:pPr>
              <a:defRPr sz="1500">
                <a:solidFill>
                  <a:srgbClr val="A0AEC0"/>
                </a:solidFill>
                <a:latin typeface="Arial"/>
              </a:defRPr>
            </a:pPr>
            <a:r>
              <a:t>- Conflicting evidence needs explicit representation</a:t>
            </a:r>
          </a:p>
          <a:p>
            <a:pPr>
              <a:defRPr sz="1500">
                <a:solidFill>
                  <a:srgbClr val="A0AEC0"/>
                </a:solidFill>
                <a:latin typeface="Arial"/>
              </a:defRPr>
            </a:pPr>
            <a:r>
              <a:t>- Explanation stability needs analysis</a:t>
            </a:r>
          </a:p>
          <a:p>
            <a:pPr>
              <a:defRPr sz="1500">
                <a:solidFill>
                  <a:srgbClr val="A0AEC0"/>
                </a:solidFill>
                <a:latin typeface="Arial"/>
              </a:defRPr>
            </a:pPr>
            <a:r>
              <a:t>- Reliability/uncertainty need stronger treatment</a:t>
            </a:r>
          </a:p>
          <a:p>
            <a:pPr>
              <a:defRPr sz="1500">
                <a:solidFill>
                  <a:srgbClr val="A0AEC0"/>
                </a:solidFill>
                <a:latin typeface="Arial"/>
              </a:defRPr>
            </a:pPr>
            <a:r>
              <a:t>- Models may partly rely on learned priors</a:t>
            </a:r>
          </a:p>
        </p:txBody>
      </p:sp>
      <p:graphicFrame>
        <p:nvGraphicFramePr>
          <p:cNvPr id="12" name="Table 11"/>
          <p:cNvGraphicFramePr>
            <a:graphicFrameLocks noGrp="1"/>
          </p:cNvGraphicFramePr>
          <p:nvPr/>
        </p:nvGraphicFramePr>
        <p:xfrm>
          <a:off x="914400" y="4114800"/>
          <a:ext cx="12801600" cy="2926080"/>
        </p:xfrm>
        <a:graphic>
          <a:graphicData uri="http://schemas.openxmlformats.org/drawingml/2006/table">
            <a:tbl>
              <a:tblPr firstRow="1" bandRow="1">
                <a:tableStyleId>{5C22544A-7EE6-4342-B048-85BDC9FD1C3A}</a:tableStyleId>
              </a:tblPr>
              <a:tblGrid>
                <a:gridCol w="5486400"/>
                <a:gridCol w="7315200"/>
              </a:tblGrid>
              <a:tr h="418011">
                <a:tc>
                  <a:txBody>
                    <a:bodyPr/>
                    <a:lstStyle/>
                    <a:p>
                      <a:pPr>
                        <a:defRPr sz="1400" b="1">
                          <a:solidFill>
                            <a:srgbClr val="FFFFFF"/>
                          </a:solidFill>
                        </a:defRPr>
                      </a:pPr>
                      <a:r>
                        <a:t>Research Gap (IEEE Limitations)</a:t>
                      </a:r>
                    </a:p>
                  </a:txBody>
                  <a:tcPr>
                    <a:solidFill>
                      <a:srgbClr val="1C3E6B"/>
                    </a:solidFill>
                  </a:tcPr>
                </a:tc>
                <a:tc>
                  <a:txBody>
                    <a:bodyPr/>
                    <a:lstStyle/>
                    <a:p>
                      <a:pPr>
                        <a:defRPr sz="1400" b="1">
                          <a:solidFill>
                            <a:srgbClr val="FFFFFF"/>
                          </a:solidFill>
                        </a:defRPr>
                      </a:pPr>
                      <a:r>
                        <a:t>Proposed Response (Our Extension)</a:t>
                      </a:r>
                    </a:p>
                  </a:txBody>
                  <a:tcPr>
                    <a:solidFill>
                      <a:srgbClr val="1C3E6B"/>
                    </a:solidFill>
                  </a:tcPr>
                </a:tc>
              </a:tr>
              <a:tr h="418011">
                <a:tc>
                  <a:txBody>
                    <a:bodyPr/>
                    <a:lstStyle/>
                    <a:p>
                      <a:pPr>
                        <a:defRPr sz="1300">
                          <a:solidFill>
                            <a:srgbClr val="A0AEC0"/>
                          </a:solidFill>
                        </a:defRPr>
                      </a:pPr>
                      <a:r>
                        <a:t>Attribution != causal influence</a:t>
                      </a:r>
                    </a:p>
                  </a:txBody>
                  <a:tcPr>
                    <a:solidFill>
                      <a:srgbClr val="19345E"/>
                    </a:solidFill>
                  </a:tcPr>
                </a:tc>
                <a:tc>
                  <a:txBody>
                    <a:bodyPr/>
                    <a:lstStyle/>
                    <a:p>
                      <a:pPr>
                        <a:defRPr sz="1300">
                          <a:solidFill>
                            <a:srgbClr val="A0AEC0"/>
                          </a:solidFill>
                        </a:defRPr>
                      </a:pPr>
                      <a:r>
                        <a:t>Intervention-based evidence testing</a:t>
                      </a:r>
                    </a:p>
                  </a:txBody>
                  <a:tcPr>
                    <a:solidFill>
                      <a:srgbClr val="19345E"/>
                    </a:solidFill>
                  </a:tcPr>
                </a:tc>
              </a:tr>
              <a:tr h="418011">
                <a:tc>
                  <a:txBody>
                    <a:bodyPr/>
                    <a:lstStyle/>
                    <a:p>
                      <a:pPr>
                        <a:defRPr sz="1300">
                          <a:solidFill>
                            <a:srgbClr val="A0AEC0"/>
                          </a:solidFill>
                        </a:defRPr>
                      </a:pPr>
                      <a:r>
                        <a:t>Binary evidence assessment</a:t>
                      </a:r>
                    </a:p>
                  </a:txBody>
                  <a:tcPr>
                    <a:solidFill>
                      <a:srgbClr val="19345E"/>
                    </a:solidFill>
                  </a:tcPr>
                </a:tc>
                <a:tc>
                  <a:txBody>
                    <a:bodyPr/>
                    <a:lstStyle/>
                    <a:p>
                      <a:pPr>
                        <a:defRPr sz="1300">
                          <a:solidFill>
                            <a:srgbClr val="A0AEC0"/>
                          </a:solidFill>
                        </a:defRPr>
                      </a:pPr>
                      <a:r>
                        <a:t>Fuzzy evidence degrees (relevance, support, contradiction)</a:t>
                      </a:r>
                    </a:p>
                  </a:txBody>
                  <a:tcPr>
                    <a:solidFill>
                      <a:srgbClr val="19345E"/>
                    </a:solidFill>
                  </a:tcPr>
                </a:tc>
              </a:tr>
              <a:tr h="418011">
                <a:tc>
                  <a:txBody>
                    <a:bodyPr/>
                    <a:lstStyle/>
                    <a:p>
                      <a:pPr>
                        <a:defRPr sz="1300">
                          <a:solidFill>
                            <a:srgbClr val="A0AEC0"/>
                          </a:solidFill>
                        </a:defRPr>
                      </a:pPr>
                      <a:r>
                        <a:t>Mixed/conflicting evidence</a:t>
                      </a:r>
                    </a:p>
                  </a:txBody>
                  <a:tcPr>
                    <a:solidFill>
                      <a:srgbClr val="19345E"/>
                    </a:solidFill>
                  </a:tcPr>
                </a:tc>
                <a:tc>
                  <a:txBody>
                    <a:bodyPr/>
                    <a:lstStyle/>
                    <a:p>
                      <a:pPr>
                        <a:defRPr sz="1300">
                          <a:solidFill>
                            <a:srgbClr val="A0AEC0"/>
                          </a:solidFill>
                        </a:defRPr>
                      </a:pPr>
                      <a:r>
                        <a:t>Explicit conflict detection</a:t>
                      </a:r>
                    </a:p>
                  </a:txBody>
                  <a:tcPr>
                    <a:solidFill>
                      <a:srgbClr val="19345E"/>
                    </a:solidFill>
                  </a:tcPr>
                </a:tc>
              </a:tr>
              <a:tr h="418011">
                <a:tc>
                  <a:txBody>
                    <a:bodyPr/>
                    <a:lstStyle/>
                    <a:p>
                      <a:pPr>
                        <a:defRPr sz="1300">
                          <a:solidFill>
                            <a:srgbClr val="A0AEC0"/>
                          </a:solidFill>
                        </a:defRPr>
                      </a:pPr>
                      <a:r>
                        <a:t>Explanation instability</a:t>
                      </a:r>
                    </a:p>
                  </a:txBody>
                  <a:tcPr>
                    <a:solidFill>
                      <a:srgbClr val="19345E"/>
                    </a:solidFill>
                  </a:tcPr>
                </a:tc>
                <a:tc>
                  <a:txBody>
                    <a:bodyPr/>
                    <a:lstStyle/>
                    <a:p>
                      <a:pPr>
                        <a:defRPr sz="1300">
                          <a:solidFill>
                            <a:srgbClr val="A0AEC0"/>
                          </a:solidFill>
                        </a:defRPr>
                      </a:pPr>
                      <a:r>
                        <a:t>Explanation stability analysis</a:t>
                      </a:r>
                    </a:p>
                  </a:txBody>
                  <a:tcPr>
                    <a:solidFill>
                      <a:srgbClr val="19345E"/>
                    </a:solidFill>
                  </a:tcPr>
                </a:tc>
              </a:tr>
              <a:tr h="418011">
                <a:tc>
                  <a:txBody>
                    <a:bodyPr/>
                    <a:lstStyle/>
                    <a:p>
                      <a:pPr>
                        <a:defRPr sz="1300">
                          <a:solidFill>
                            <a:srgbClr val="A0AEC0"/>
                          </a:solidFill>
                        </a:defRPr>
                      </a:pPr>
                      <a:r>
                        <a:t>Weak reliability analysis</a:t>
                      </a:r>
                    </a:p>
                  </a:txBody>
                  <a:tcPr>
                    <a:solidFill>
                      <a:srgbClr val="19345E"/>
                    </a:solidFill>
                  </a:tcPr>
                </a:tc>
                <a:tc>
                  <a:txBody>
                    <a:bodyPr/>
                    <a:lstStyle/>
                    <a:p>
                      <a:pPr>
                        <a:defRPr sz="1300">
                          <a:solidFill>
                            <a:srgbClr val="A0AEC0"/>
                          </a:solidFill>
                        </a:defRPr>
                      </a:pPr>
                      <a:r>
                        <a:t>Reliability-aware scoring</a:t>
                      </a:r>
                    </a:p>
                  </a:txBody>
                  <a:tcPr>
                    <a:solidFill>
                      <a:srgbClr val="19345E"/>
                    </a:solidFill>
                  </a:tcPr>
                </a:tc>
              </a:tr>
              <a:tr h="418014">
                <a:tc>
                  <a:txBody>
                    <a:bodyPr/>
                    <a:lstStyle/>
                    <a:p>
                      <a:pPr>
                        <a:defRPr sz="1300">
                          <a:solidFill>
                            <a:srgbClr val="A0AEC0"/>
                          </a:solidFill>
                        </a:defRPr>
                      </a:pPr>
                      <a:r>
                        <a:t>Possible prior reliance</a:t>
                      </a:r>
                    </a:p>
                  </a:txBody>
                  <a:tcPr>
                    <a:solidFill>
                      <a:srgbClr val="19345E"/>
                    </a:solidFill>
                  </a:tcPr>
                </a:tc>
                <a:tc>
                  <a:txBody>
                    <a:bodyPr/>
                    <a:lstStyle/>
                    <a:p>
                      <a:pPr>
                        <a:defRPr sz="1300">
                          <a:solidFill>
                            <a:srgbClr val="A0AEC0"/>
                          </a:solidFill>
                        </a:defRPr>
                      </a:pPr>
                      <a:r>
                        <a:t>Attribution vs intervention comparison</a:t>
                      </a:r>
                    </a:p>
                  </a:txBody>
                  <a:tcPr>
                    <a:solidFill>
                      <a:srgbClr val="19345E"/>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5</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SYSTEM ARCHITECTURE</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Methodology</a:t>
            </a:r>
          </a:p>
        </p:txBody>
      </p:sp>
      <p:sp>
        <p:nvSpPr>
          <p:cNvPr id="9" name="Rounded Rectangle 8"/>
          <p:cNvSpPr/>
          <p:nvPr/>
        </p:nvSpPr>
        <p:spPr>
          <a:xfrm>
            <a:off x="914400" y="228600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USER CLAIM</a:t>
            </a:r>
          </a:p>
          <a:p>
            <a:pPr algn="ctr">
              <a:defRPr sz="1000">
                <a:solidFill>
                  <a:srgbClr val="4FD1C5"/>
                </a:solidFill>
                <a:latin typeface="Arial"/>
              </a:defRPr>
            </a:pPr>
            <a:r>
              <a:t>Natural-language claim</a:t>
            </a:r>
          </a:p>
        </p:txBody>
      </p:sp>
      <p:sp>
        <p:nvSpPr>
          <p:cNvPr id="10" name="Rounded Rectangle 9"/>
          <p:cNvSpPr/>
          <p:nvPr/>
        </p:nvSpPr>
        <p:spPr>
          <a:xfrm>
            <a:off x="4114800" y="228600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HYBRID RAG RETRIEVAL</a:t>
            </a:r>
          </a:p>
          <a:p>
            <a:pPr algn="ctr">
              <a:defRPr sz="1000">
                <a:solidFill>
                  <a:srgbClr val="4FD1C5"/>
                </a:solidFill>
                <a:latin typeface="Arial"/>
              </a:defRPr>
            </a:pPr>
            <a:r>
              <a:t>BM25 + Dense Embeddings</a:t>
            </a:r>
          </a:p>
        </p:txBody>
      </p:sp>
      <p:sp>
        <p:nvSpPr>
          <p:cNvPr id="11" name="Rounded Rectangle 10"/>
          <p:cNvSpPr/>
          <p:nvPr/>
        </p:nvSpPr>
        <p:spPr>
          <a:xfrm>
            <a:off x="7772400" y="228600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TOP-K EVIDENCE</a:t>
            </a:r>
          </a:p>
          <a:p>
            <a:pPr algn="ctr">
              <a:defRPr sz="1000">
                <a:solidFill>
                  <a:srgbClr val="4FD1C5"/>
                </a:solidFill>
                <a:latin typeface="Arial"/>
              </a:defRPr>
            </a:pPr>
            <a:r>
              <a:t>Relevance + Source Metadata</a:t>
            </a:r>
          </a:p>
        </p:txBody>
      </p:sp>
      <p:sp>
        <p:nvSpPr>
          <p:cNvPr id="12" name="Rounded Rectangle 11"/>
          <p:cNvSpPr/>
          <p:nvPr/>
        </p:nvSpPr>
        <p:spPr>
          <a:xfrm>
            <a:off x="10972800" y="2286000"/>
            <a:ext cx="32004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CLAIM-EVIDENCE VERIFICATION</a:t>
            </a:r>
          </a:p>
          <a:p>
            <a:pPr algn="ctr">
              <a:defRPr sz="1000">
                <a:solidFill>
                  <a:srgbClr val="4FD1C5"/>
                </a:solidFill>
                <a:latin typeface="Arial"/>
              </a:defRPr>
            </a:pPr>
            <a:r>
              <a:t>Supports / Refutes / NEI</a:t>
            </a:r>
          </a:p>
        </p:txBody>
      </p:sp>
      <p:sp>
        <p:nvSpPr>
          <p:cNvPr id="13" name="Rounded Rectangle 12"/>
          <p:cNvSpPr/>
          <p:nvPr/>
        </p:nvSpPr>
        <p:spPr>
          <a:xfrm>
            <a:off x="10972800" y="3931920"/>
            <a:ext cx="32004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SHAP + LIME</a:t>
            </a:r>
          </a:p>
          <a:p>
            <a:pPr algn="ctr">
              <a:defRPr sz="1000">
                <a:solidFill>
                  <a:srgbClr val="4FD1C5"/>
                </a:solidFill>
                <a:latin typeface="Arial"/>
              </a:defRPr>
            </a:pPr>
            <a:r>
              <a:t>Evidence Attribution</a:t>
            </a:r>
          </a:p>
        </p:txBody>
      </p:sp>
      <p:sp>
        <p:nvSpPr>
          <p:cNvPr id="14" name="Rounded Rectangle 13"/>
          <p:cNvSpPr/>
          <p:nvPr/>
        </p:nvSpPr>
        <p:spPr>
          <a:xfrm>
            <a:off x="7772400" y="393192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INTERVENTION INFLUENCE</a:t>
            </a:r>
          </a:p>
          <a:p>
            <a:pPr algn="ctr">
              <a:defRPr sz="1000">
                <a:solidFill>
                  <a:srgbClr val="4FD1C5"/>
                </a:solidFill>
                <a:latin typeface="Arial"/>
              </a:defRPr>
            </a:pPr>
            <a:r>
              <a:t>Remove Evidence / Measure Change</a:t>
            </a:r>
          </a:p>
        </p:txBody>
      </p:sp>
      <p:sp>
        <p:nvSpPr>
          <p:cNvPr id="15" name="Rounded Rectangle 14"/>
          <p:cNvSpPr/>
          <p:nvPr/>
        </p:nvSpPr>
        <p:spPr>
          <a:xfrm>
            <a:off x="4114800" y="393192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CONFLICT + STABILITY</a:t>
            </a:r>
          </a:p>
          <a:p>
            <a:pPr algn="ctr">
              <a:defRPr sz="1000">
                <a:solidFill>
                  <a:srgbClr val="4FD1C5"/>
                </a:solidFill>
                <a:latin typeface="Arial"/>
              </a:defRPr>
            </a:pPr>
            <a:r>
              <a:t>Detect conflict &amp; evaluate robustness</a:t>
            </a:r>
          </a:p>
        </p:txBody>
      </p:sp>
      <p:sp>
        <p:nvSpPr>
          <p:cNvPr id="16" name="Rounded Rectangle 15"/>
          <p:cNvSpPr/>
          <p:nvPr/>
        </p:nvSpPr>
        <p:spPr>
          <a:xfrm>
            <a:off x="914400" y="3931920"/>
            <a:ext cx="292608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FUZZY REASONING</a:t>
            </a:r>
          </a:p>
          <a:p>
            <a:pPr algn="ctr">
              <a:defRPr sz="1000">
                <a:solidFill>
                  <a:srgbClr val="4FD1C5"/>
                </a:solidFill>
                <a:latin typeface="Arial"/>
              </a:defRPr>
            </a:pPr>
            <a:r>
              <a:t>Combine imperfect signals</a:t>
            </a:r>
          </a:p>
        </p:txBody>
      </p:sp>
      <p:sp>
        <p:nvSpPr>
          <p:cNvPr id="17" name="Rounded Rectangle 16"/>
          <p:cNvSpPr/>
          <p:nvPr/>
        </p:nvSpPr>
        <p:spPr>
          <a:xfrm>
            <a:off x="5029200" y="5669280"/>
            <a:ext cx="45720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FINAL RELIABILITY-AWARE EXPLANATION</a:t>
            </a:r>
          </a:p>
          <a:p>
            <a:pPr algn="ctr">
              <a:defRPr sz="1000">
                <a:solidFill>
                  <a:srgbClr val="4FD1C5"/>
                </a:solidFill>
                <a:latin typeface="Arial"/>
              </a:defRPr>
            </a:pPr>
            <a:r>
              <a:t>Verdict + Influence + Reliability</a:t>
            </a:r>
          </a:p>
        </p:txBody>
      </p:sp>
      <p:sp>
        <p:nvSpPr>
          <p:cNvPr id="18" name="Right Arrow 17"/>
          <p:cNvSpPr/>
          <p:nvPr/>
        </p:nvSpPr>
        <p:spPr>
          <a:xfrm>
            <a:off x="3840480" y="265176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7040880" y="2651760"/>
            <a:ext cx="7315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10698480" y="265176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12527280" y="3200400"/>
            <a:ext cx="182880" cy="7315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rot="10800000">
            <a:off x="10698480" y="429768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rot="10800000">
            <a:off x="7040880" y="4297680"/>
            <a:ext cx="7315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rot="10800000">
            <a:off x="3840480" y="4297680"/>
            <a:ext cx="27432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wn Arrow 24"/>
          <p:cNvSpPr/>
          <p:nvPr/>
        </p:nvSpPr>
        <p:spPr>
          <a:xfrm>
            <a:off x="2377440" y="4846320"/>
            <a:ext cx="182880" cy="118872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2560320" y="6035040"/>
            <a:ext cx="2468880" cy="18288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6</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PROJECT OUTCOMES</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Expected Results</a:t>
            </a:r>
          </a:p>
        </p:txBody>
      </p:sp>
      <p:sp>
        <p:nvSpPr>
          <p:cNvPr id="9" name="TextBox 8"/>
          <p:cNvSpPr txBox="1"/>
          <p:nvPr/>
        </p:nvSpPr>
        <p:spPr>
          <a:xfrm>
            <a:off x="457200" y="1828800"/>
            <a:ext cx="8686800" cy="5486400"/>
          </a:xfrm>
          <a:prstGeom prst="rect">
            <a:avLst/>
          </a:prstGeom>
          <a:noFill/>
        </p:spPr>
        <p:txBody>
          <a:bodyPr wrap="none">
            <a:spAutoFit/>
          </a:bodyPr>
          <a:lstStyle/>
          <a:p/>
          <a:p>
            <a:pPr>
              <a:defRPr sz="1500" b="1">
                <a:solidFill>
                  <a:srgbClr val="FFFFFF"/>
                </a:solidFill>
                <a:latin typeface="Arial"/>
              </a:defRPr>
            </a:pPr>
            <a:r>
              <a:t>1. More transparent fact-checking</a:t>
            </a:r>
          </a:p>
          <a:p>
            <a:pPr>
              <a:spcAft>
                <a:spcPts val="800"/>
              </a:spcAft>
              <a:defRPr sz="1300">
                <a:solidFill>
                  <a:srgbClr val="A0AEC0"/>
                </a:solidFill>
                <a:latin typeface="Arial"/>
              </a:defRPr>
            </a:pPr>
            <a:r>
              <a:t>Provides evidence-level explanations rather than only a final verdict.</a:t>
            </a:r>
          </a:p>
          <a:p>
            <a:pPr>
              <a:defRPr sz="1500" b="1">
                <a:solidFill>
                  <a:srgbClr val="FFFFFF"/>
                </a:solidFill>
                <a:latin typeface="Arial"/>
              </a:defRPr>
            </a:pPr>
            <a:r>
              <a:t>2. Stronger faithfulness assessment</a:t>
            </a:r>
          </a:p>
          <a:p>
            <a:pPr>
              <a:spcAft>
                <a:spcPts val="800"/>
              </a:spcAft>
              <a:defRPr sz="1300">
                <a:solidFill>
                  <a:srgbClr val="A0AEC0"/>
                </a:solidFill>
                <a:latin typeface="Arial"/>
              </a:defRPr>
            </a:pPr>
            <a:r>
              <a:t>Intervention testing distinguishes apparent attribution from actual decision drivers.</a:t>
            </a:r>
          </a:p>
          <a:p>
            <a:pPr>
              <a:defRPr sz="1500" b="1">
                <a:solidFill>
                  <a:srgbClr val="FFFFFF"/>
                </a:solidFill>
                <a:latin typeface="Arial"/>
              </a:defRPr>
            </a:pPr>
            <a:r>
              <a:t>3. Continuous evidence assessment</a:t>
            </a:r>
          </a:p>
          <a:p>
            <a:pPr>
              <a:spcAft>
                <a:spcPts val="800"/>
              </a:spcAft>
              <a:defRPr sz="1300">
                <a:solidFill>
                  <a:srgbClr val="A0AEC0"/>
                </a:solidFill>
                <a:latin typeface="Arial"/>
              </a:defRPr>
            </a:pPr>
            <a:r>
              <a:t>Fuzzy reasoning represents evidence as degrees (support, contradiction) instead of rigid labels.</a:t>
            </a:r>
          </a:p>
          <a:p>
            <a:pPr>
              <a:defRPr sz="1500" b="1">
                <a:solidFill>
                  <a:srgbClr val="FFFFFF"/>
                </a:solidFill>
                <a:latin typeface="Arial"/>
              </a:defRPr>
            </a:pPr>
            <a:r>
              <a:t>4. Conflict-aware explanations</a:t>
            </a:r>
          </a:p>
          <a:p>
            <a:pPr>
              <a:spcAft>
                <a:spcPts val="800"/>
              </a:spcAft>
              <a:defRPr sz="1300">
                <a:solidFill>
                  <a:srgbClr val="A0AEC0"/>
                </a:solidFill>
                <a:latin typeface="Arial"/>
              </a:defRPr>
            </a:pPr>
            <a:r>
              <a:t>Explicitly identifies supporting and refuting evidence when sources disagree.</a:t>
            </a:r>
          </a:p>
          <a:p>
            <a:pPr>
              <a:defRPr sz="1500" b="1">
                <a:solidFill>
                  <a:srgbClr val="FFFFFF"/>
                </a:solidFill>
                <a:latin typeface="Arial"/>
              </a:defRPr>
            </a:pPr>
            <a:r>
              <a:t>5. Explanation stability analysis</a:t>
            </a:r>
          </a:p>
          <a:p>
            <a:pPr>
              <a:spcAft>
                <a:spcPts val="800"/>
              </a:spcAft>
              <a:defRPr sz="1300">
                <a:solidFill>
                  <a:srgbClr val="A0AEC0"/>
                </a:solidFill>
                <a:latin typeface="Arial"/>
              </a:defRPr>
            </a:pPr>
            <a:r>
              <a:t>Indicates consistent evidence rankings under perturbations.</a:t>
            </a:r>
          </a:p>
          <a:p>
            <a:pPr>
              <a:defRPr sz="1500" b="1">
                <a:solidFill>
                  <a:srgbClr val="FFFFFF"/>
                </a:solidFill>
                <a:latin typeface="Arial"/>
              </a:defRPr>
            </a:pPr>
            <a:r>
              <a:t>6. Reliability-aware outputs</a:t>
            </a:r>
          </a:p>
          <a:p>
            <a:pPr>
              <a:spcAft>
                <a:spcPts val="800"/>
              </a:spcAft>
              <a:defRPr sz="1300">
                <a:solidFill>
                  <a:srgbClr val="A0AEC0"/>
                </a:solidFill>
                <a:latin typeface="Arial"/>
              </a:defRPr>
            </a:pPr>
            <a:r>
              <a:t>Communicates verdict alongside confidence and explanation reliability.</a:t>
            </a:r>
          </a:p>
        </p:txBody>
      </p:sp>
      <p:sp>
        <p:nvSpPr>
          <p:cNvPr id="10" name="Rounded Rectangle 9"/>
          <p:cNvSpPr/>
          <p:nvPr/>
        </p:nvSpPr>
        <p:spPr>
          <a:xfrm>
            <a:off x="9326880" y="2286000"/>
            <a:ext cx="4846320" cy="4114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6AD55"/>
                </a:solidFill>
                <a:latin typeface="Arial"/>
              </a:defRPr>
            </a:pPr>
            <a:r>
              <a:t>Illustrative Proposed Output</a:t>
            </a:r>
          </a:p>
          <a:p>
            <a:r>
              <a:rPr b="1" sz="1400">
                <a:solidFill>
                  <a:srgbClr val="4FD1C5"/>
                </a:solidFill>
              </a:rPr>
              <a:t>
CLAIM:</a:t>
            </a:r>
            <a:r>
              <a:rPr sz="1400">
                <a:solidFill>
                  <a:srgbClr val="FFFFFF"/>
                </a:solidFill>
              </a:rPr>
              <a:t> 'JWST was launched in 2021.'</a:t>
            </a:r>
          </a:p>
          <a:p>
            <a:r>
              <a:rPr b="1" sz="1400">
                <a:solidFill>
                  <a:srgbClr val="4FD1C5"/>
                </a:solidFill>
              </a:rPr>
              <a:t>
VERDICT:</a:t>
            </a:r>
            <a:r>
              <a:rPr sz="1400">
                <a:solidFill>
                  <a:srgbClr val="FFFFFF"/>
                </a:solidFill>
              </a:rPr>
              <a:t> SUPPORTED</a:t>
            </a:r>
          </a:p>
          <a:p>
            <a:r>
              <a:rPr b="1" sz="1400">
                <a:solidFill>
                  <a:srgbClr val="4FD1C5"/>
                </a:solidFill>
              </a:rPr>
              <a:t>
Most influential evidence:</a:t>
            </a:r>
            <a:r>
              <a:rPr sz="1400">
                <a:solidFill>
                  <a:srgbClr val="FFFFFF"/>
                </a:solidFill>
              </a:rPr>
              <a:t> E1</a:t>
            </a:r>
          </a:p>
          <a:p>
            <a:r>
              <a:rPr b="1" sz="1400">
                <a:solidFill>
                  <a:srgbClr val="4FD1C5"/>
                </a:solidFill>
              </a:rPr>
              <a:t>
Causal influence:</a:t>
            </a:r>
            <a:r>
              <a:rPr sz="1400">
                <a:solidFill>
                  <a:srgbClr val="FFFFFF"/>
                </a:solidFill>
              </a:rPr>
              <a:t> High</a:t>
            </a:r>
          </a:p>
          <a:p>
            <a:r>
              <a:rPr b="1" sz="1400">
                <a:solidFill>
                  <a:srgbClr val="4FD1C5"/>
                </a:solidFill>
              </a:rPr>
              <a:t>Explanation reliability:</a:t>
            </a:r>
            <a:r>
              <a:rPr sz="1400">
                <a:solidFill>
                  <a:srgbClr val="FFFFFF"/>
                </a:solidFill>
              </a:rPr>
              <a:t> High</a:t>
            </a:r>
          </a:p>
          <a:p>
            <a:r>
              <a:rPr b="1" sz="1400">
                <a:solidFill>
                  <a:srgbClr val="4FD1C5"/>
                </a:solidFill>
              </a:rPr>
              <a:t>Explanation stability:</a:t>
            </a:r>
            <a:r>
              <a:rPr sz="1400">
                <a:solidFill>
                  <a:srgbClr val="FFFFFF"/>
                </a:solidFill>
              </a:rPr>
              <a:t> High</a:t>
            </a:r>
          </a:p>
          <a:p>
            <a:r>
              <a:rPr b="1" sz="1400">
                <a:solidFill>
                  <a:srgbClr val="4FD1C5"/>
                </a:solidFill>
              </a:rPr>
              <a:t>Conflict level:</a:t>
            </a:r>
            <a:r>
              <a:rPr sz="1400">
                <a:solidFill>
                  <a:srgbClr val="FFFFFF"/>
                </a:solidFill>
              </a:rPr>
              <a:t> Low</a:t>
            </a:r>
          </a:p>
          <a:p>
            <a:r>
              <a:rPr b="1" sz="1400">
                <a:solidFill>
                  <a:srgbClr val="4FD1C5"/>
                </a:solidFill>
              </a:rPr>
              <a:t>
Reason:</a:t>
            </a:r>
            <a:r>
              <a:rPr sz="1400">
                <a:solidFill>
                  <a:srgbClr val="FFFFFF"/>
                </a:solidFill>
              </a:rPr>
              <a:t> Removing key evidence alters the verifier prediction.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7</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FOUNDATION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Base IEEE Paper - What It Does</a:t>
            </a:r>
          </a:p>
        </p:txBody>
      </p:sp>
      <p:sp>
        <p:nvSpPr>
          <p:cNvPr id="9" name="Rounded Rectangle 8"/>
          <p:cNvSpPr/>
          <p:nvPr/>
        </p:nvSpPr>
        <p:spPr>
          <a:xfrm>
            <a:off x="1371600" y="2286000"/>
            <a:ext cx="32004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Claim + Evidence</a:t>
            </a:r>
          </a:p>
        </p:txBody>
      </p:sp>
      <p:sp>
        <p:nvSpPr>
          <p:cNvPr id="10" name="Down Arrow 9"/>
          <p:cNvSpPr/>
          <p:nvPr/>
        </p:nvSpPr>
        <p:spPr>
          <a:xfrm>
            <a:off x="2834640" y="3017520"/>
            <a:ext cx="182880" cy="45720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71600" y="3474720"/>
            <a:ext cx="32004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Verifier</a:t>
            </a:r>
          </a:p>
        </p:txBody>
      </p:sp>
      <p:sp>
        <p:nvSpPr>
          <p:cNvPr id="12" name="Down Arrow 11"/>
          <p:cNvSpPr/>
          <p:nvPr/>
        </p:nvSpPr>
        <p:spPr>
          <a:xfrm>
            <a:off x="2834640" y="4206240"/>
            <a:ext cx="182880" cy="45720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4663440"/>
            <a:ext cx="3200400" cy="73152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Supports / Refutes / NEI</a:t>
            </a:r>
          </a:p>
        </p:txBody>
      </p:sp>
      <p:sp>
        <p:nvSpPr>
          <p:cNvPr id="14" name="Down Arrow 13"/>
          <p:cNvSpPr/>
          <p:nvPr/>
        </p:nvSpPr>
        <p:spPr>
          <a:xfrm>
            <a:off x="2834640" y="5394960"/>
            <a:ext cx="182880" cy="45720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71600" y="5852160"/>
            <a:ext cx="3200400" cy="731520"/>
          </a:xfrm>
          <a:prstGeom prst="roundRect">
            <a:avLst/>
          </a:prstGeom>
          <a:solidFill>
            <a:srgbClr val="1C3E6B"/>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Evidence-Level Attribution</a:t>
            </a:r>
          </a:p>
        </p:txBody>
      </p:sp>
      <p:sp>
        <p:nvSpPr>
          <p:cNvPr id="16" name="TextBox 15"/>
          <p:cNvSpPr txBox="1"/>
          <p:nvPr/>
        </p:nvSpPr>
        <p:spPr>
          <a:xfrm>
            <a:off x="5943600" y="2286000"/>
            <a:ext cx="7315200" cy="2743200"/>
          </a:xfrm>
          <a:prstGeom prst="rect">
            <a:avLst/>
          </a:prstGeom>
          <a:noFill/>
        </p:spPr>
        <p:txBody>
          <a:bodyPr wrap="square">
            <a:spAutoFit/>
          </a:bodyPr>
          <a:lstStyle/>
          <a:p>
            <a:pPr algn="l">
              <a:defRPr sz="2000" b="1" i="0">
                <a:solidFill>
                  <a:srgbClr val="F6AD55"/>
                </a:solidFill>
                <a:latin typeface="Arial"/>
              </a:defRPr>
            </a:pPr>
            <a:r>
              <a:t>Methodological details:</a:t>
            </a:r>
          </a:p>
          <a:p>
            <a:pPr>
              <a:defRPr sz="1800">
                <a:solidFill>
                  <a:srgbClr val="FFFFFF"/>
                </a:solidFill>
                <a:latin typeface="Arial"/>
              </a:defRPr>
            </a:pPr>
            <a:r>
              <a:t>- Evidence pieces are treated individually</a:t>
            </a:r>
          </a:p>
          <a:p>
            <a:pPr>
              <a:defRPr sz="1800">
                <a:solidFill>
                  <a:srgbClr val="FFFFFF"/>
                </a:solidFill>
                <a:latin typeface="Arial"/>
              </a:defRPr>
            </a:pPr>
            <a:r>
              <a:t>- SHAP and LIME are applied at the evidence level</a:t>
            </a:r>
          </a:p>
          <a:p>
            <a:pPr>
              <a:defRPr sz="1800">
                <a:solidFill>
                  <a:srgbClr val="FFFFFF"/>
                </a:solidFill>
                <a:latin typeface="Arial"/>
              </a:defRPr>
            </a:pPr>
            <a:r>
              <a:t>- Subsets of evidence are sampled</a:t>
            </a:r>
          </a:p>
          <a:p>
            <a:pPr>
              <a:defRPr sz="1800">
                <a:solidFill>
                  <a:srgbClr val="FFFFFF"/>
                </a:solidFill>
                <a:latin typeface="Arial"/>
              </a:defRPr>
            </a:pPr>
            <a:r>
              <a:t>- Verifier predictions are observed under perturbation</a:t>
            </a:r>
          </a:p>
          <a:p>
            <a:pPr>
              <a:defRPr sz="1800">
                <a:solidFill>
                  <a:srgbClr val="FFFFFF"/>
                </a:solidFill>
                <a:latin typeface="Arial"/>
              </a:defRPr>
            </a:pPr>
            <a:r>
              <a:t>- Contribution scores are derived from predictions</a:t>
            </a:r>
          </a:p>
        </p:txBody>
      </p:sp>
      <p:sp>
        <p:nvSpPr>
          <p:cNvPr id="17" name="Rounded Rectangle 16"/>
          <p:cNvSpPr/>
          <p:nvPr/>
        </p:nvSpPr>
        <p:spPr>
          <a:xfrm>
            <a:off x="5943600" y="5029200"/>
            <a:ext cx="7315200" cy="9144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6AD55"/>
                </a:solidFill>
                <a:latin typeface="Arial"/>
              </a:defRPr>
            </a:pPr>
            <a:r>
              <a:t>Key Question:</a:t>
            </a:r>
            <a:br/>
            <a:r>
              <a:t>'Which evidence appears to influence the verifier?'</a:t>
            </a:r>
          </a:p>
        </p:txBody>
      </p:sp>
      <p:sp>
        <p:nvSpPr>
          <p:cNvPr id="18" name="Rounded Rectangle 17"/>
          <p:cNvSpPr/>
          <p:nvPr/>
        </p:nvSpPr>
        <p:spPr>
          <a:xfrm>
            <a:off x="11887200" y="1371600"/>
            <a:ext cx="1828800" cy="45720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4FD1C5"/>
                </a:solidFill>
                <a:latin typeface="Arial"/>
              </a:defRPr>
            </a:pPr>
            <a:r>
              <a:t>BASE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8</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FOUNDATION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Base IEEE Paper: Methodology</a:t>
            </a:r>
          </a:p>
        </p:txBody>
      </p:sp>
      <p:sp>
        <p:nvSpPr>
          <p:cNvPr id="9" name="Rounded Rectangle 8"/>
          <p:cNvSpPr/>
          <p:nvPr/>
        </p:nvSpPr>
        <p:spPr>
          <a:xfrm>
            <a:off x="914400" y="1828800"/>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Evidence Set</a:t>
            </a:r>
            <a:br/>
            <a:r>
              <a:t>(E1, E2, E3... En)</a:t>
            </a:r>
          </a:p>
        </p:txBody>
      </p:sp>
      <p:sp>
        <p:nvSpPr>
          <p:cNvPr id="10" name="Down Arrow 9"/>
          <p:cNvSpPr/>
          <p:nvPr/>
        </p:nvSpPr>
        <p:spPr>
          <a:xfrm>
            <a:off x="2377440" y="2468880"/>
            <a:ext cx="182880" cy="32004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788920"/>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Evidence Subset</a:t>
            </a:r>
            <a:br/>
            <a:r>
              <a:t>Perturbation</a:t>
            </a:r>
          </a:p>
        </p:txBody>
      </p:sp>
      <p:sp>
        <p:nvSpPr>
          <p:cNvPr id="12" name="Down Arrow 11"/>
          <p:cNvSpPr/>
          <p:nvPr/>
        </p:nvSpPr>
        <p:spPr>
          <a:xfrm>
            <a:off x="2377440" y="3429000"/>
            <a:ext cx="182880" cy="32004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749039"/>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Claim + Evidence</a:t>
            </a:r>
            <a:br/>
            <a:r>
              <a:t>Subset</a:t>
            </a:r>
          </a:p>
        </p:txBody>
      </p:sp>
      <p:sp>
        <p:nvSpPr>
          <p:cNvPr id="14" name="Down Arrow 13"/>
          <p:cNvSpPr/>
          <p:nvPr/>
        </p:nvSpPr>
        <p:spPr>
          <a:xfrm>
            <a:off x="2377440" y="4389120"/>
            <a:ext cx="182880" cy="32004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4709160"/>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Verifier Prediction</a:t>
            </a:r>
          </a:p>
        </p:txBody>
      </p:sp>
      <p:sp>
        <p:nvSpPr>
          <p:cNvPr id="16" name="Down Arrow 15"/>
          <p:cNvSpPr/>
          <p:nvPr/>
        </p:nvSpPr>
        <p:spPr>
          <a:xfrm>
            <a:off x="2377440" y="5349240"/>
            <a:ext cx="182880" cy="32004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5669280"/>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LIME / SHAP</a:t>
            </a:r>
          </a:p>
        </p:txBody>
      </p:sp>
      <p:sp>
        <p:nvSpPr>
          <p:cNvPr id="18" name="Down Arrow 17"/>
          <p:cNvSpPr/>
          <p:nvPr/>
        </p:nvSpPr>
        <p:spPr>
          <a:xfrm>
            <a:off x="2377440" y="6309360"/>
            <a:ext cx="182880" cy="32004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6629400"/>
            <a:ext cx="3200400" cy="64008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Evidence</a:t>
            </a:r>
            <a:br/>
            <a:r>
              <a:t>Contribution</a:t>
            </a:r>
          </a:p>
        </p:txBody>
      </p:sp>
      <p:sp>
        <p:nvSpPr>
          <p:cNvPr id="20" name="TextBox 19"/>
          <p:cNvSpPr txBox="1"/>
          <p:nvPr/>
        </p:nvSpPr>
        <p:spPr>
          <a:xfrm>
            <a:off x="5029200" y="1828800"/>
            <a:ext cx="8686800" cy="4572000"/>
          </a:xfrm>
          <a:prstGeom prst="rect">
            <a:avLst/>
          </a:prstGeom>
          <a:noFill/>
        </p:spPr>
        <p:txBody>
          <a:bodyPr wrap="square">
            <a:spAutoFit/>
          </a:bodyPr>
          <a:lstStyle/>
          <a:p>
            <a:pPr algn="l">
              <a:defRPr sz="2000" b="1" i="0">
                <a:solidFill>
                  <a:srgbClr val="F6AD55"/>
                </a:solidFill>
                <a:latin typeface="Arial"/>
              </a:defRPr>
            </a:pPr>
            <a:r>
              <a:t>Post-Hoc Explanations (LIME &amp; SHAP)</a:t>
            </a:r>
          </a:p>
          <a:p>
            <a:pPr>
              <a:spcAft>
                <a:spcPts val="1200"/>
              </a:spcAft>
            </a:pPr>
            <a:r>
              <a:rPr b="1" sz="1600">
                <a:solidFill>
                  <a:srgbClr val="4FD1C5"/>
                </a:solidFill>
              </a:rPr>
              <a:t>- Evidence perturbation:</a:t>
            </a:r>
            <a:r>
              <a:rPr sz="1600">
                <a:solidFill>
                  <a:srgbClr val="FFFFFF"/>
                </a:solidFill>
              </a:rPr>
              <a:t> Systematically hiding or masking combinations of evidence pieces.</a:t>
            </a:r>
          </a:p>
          <a:p>
            <a:pPr>
              <a:spcAft>
                <a:spcPts val="1200"/>
              </a:spcAft>
            </a:pPr>
            <a:r>
              <a:rPr b="1" sz="1600">
                <a:solidFill>
                  <a:srgbClr val="4FD1C5"/>
                </a:solidFill>
              </a:rPr>
              <a:t>- Verifier prediction:</a:t>
            </a:r>
            <a:r>
              <a:rPr sz="1600">
                <a:solidFill>
                  <a:srgbClr val="FFFFFF"/>
                </a:solidFill>
              </a:rPr>
              <a:t> Observing how the probability of Supports/Refutes/NEI shifts.</a:t>
            </a:r>
          </a:p>
          <a:p>
            <a:pPr>
              <a:spcAft>
                <a:spcPts val="1200"/>
              </a:spcAft>
            </a:pPr>
            <a:r>
              <a:rPr b="1" sz="1600">
                <a:solidFill>
                  <a:srgbClr val="4FD1C5"/>
                </a:solidFill>
              </a:rPr>
              <a:t>- LIME:</a:t>
            </a:r>
            <a:r>
              <a:rPr sz="1600">
                <a:solidFill>
                  <a:srgbClr val="FFFFFF"/>
                </a:solidFill>
              </a:rPr>
              <a:t> Trains a local linear surrogate model on the perturbed samples to assign weights.</a:t>
            </a:r>
          </a:p>
          <a:p>
            <a:pPr>
              <a:spcAft>
                <a:spcPts val="1200"/>
              </a:spcAft>
            </a:pPr>
            <a:r>
              <a:rPr b="1" sz="1600">
                <a:solidFill>
                  <a:srgbClr val="4FD1C5"/>
                </a:solidFill>
              </a:rPr>
              <a:t>- SHAP:</a:t>
            </a:r>
            <a:r>
              <a:rPr sz="1600">
                <a:solidFill>
                  <a:srgbClr val="FFFFFF"/>
                </a:solidFill>
              </a:rPr>
              <a:t> Uses game-theoretic Shapley values to fairly distribute the prediction change among evidence pieces.</a:t>
            </a:r>
          </a:p>
          <a:p>
            <a:pPr>
              <a:spcAft>
                <a:spcPts val="1200"/>
              </a:spcAft>
            </a:pPr>
            <a:r>
              <a:rPr b="1" sz="1600">
                <a:solidFill>
                  <a:srgbClr val="4FD1C5"/>
                </a:solidFill>
              </a:rPr>
              <a:t>- Evidence-level attribution:</a:t>
            </a:r>
            <a:r>
              <a:rPr sz="1600">
                <a:solidFill>
                  <a:srgbClr val="FFFFFF"/>
                </a:solidFill>
              </a:rPr>
              <a:t> Assigns a continuous importance score to each text segment.</a:t>
            </a:r>
          </a:p>
        </p:txBody>
      </p:sp>
      <p:sp>
        <p:nvSpPr>
          <p:cNvPr id="21" name="Rounded Rectangle 20"/>
          <p:cNvSpPr/>
          <p:nvPr/>
        </p:nvSpPr>
        <p:spPr>
          <a:xfrm>
            <a:off x="10972800" y="1371600"/>
            <a:ext cx="2743200" cy="45720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4FD1C5"/>
                </a:solidFill>
                <a:latin typeface="Arial"/>
              </a:defRPr>
            </a:pPr>
            <a:r>
              <a:t>WHAT THE PAPER DID</a:t>
            </a:r>
          </a:p>
        </p:txBody>
      </p:sp>
      <p:sp>
        <p:nvSpPr>
          <p:cNvPr id="22" name="Rounded Rectangle 21"/>
          <p:cNvSpPr/>
          <p:nvPr/>
        </p:nvSpPr>
        <p:spPr>
          <a:xfrm>
            <a:off x="10058400" y="6858000"/>
            <a:ext cx="3657600" cy="548640"/>
          </a:xfrm>
          <a:prstGeom prst="roundRect">
            <a:avLst/>
          </a:prstGeom>
          <a:solidFill>
            <a:srgbClr val="1C3E6B"/>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WHAT OUR PROJECT PROPOSES:</a:t>
            </a:r>
            <a:br/>
            <a:r>
              <a:t>Extend this into an end-to-end reliable RAG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9</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MOTIVATION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Research Gaps Identified from the Base Work</a:t>
            </a:r>
          </a:p>
        </p:txBody>
      </p:sp>
      <p:sp>
        <p:nvSpPr>
          <p:cNvPr id="9" name="Rounded Rectangle 8"/>
          <p:cNvSpPr/>
          <p:nvPr/>
        </p:nvSpPr>
        <p:spPr>
          <a:xfrm>
            <a:off x="914400" y="2286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1</a:t>
            </a:r>
          </a:p>
          <a:p>
            <a:pPr algn="l">
              <a:defRPr sz="1600">
                <a:solidFill>
                  <a:srgbClr val="FFFFFF"/>
                </a:solidFill>
              </a:defRPr>
            </a:pPr>
            <a:r>
              <a:t>ATTRIBUTION does not necessarily establish actual influence.</a:t>
            </a:r>
          </a:p>
        </p:txBody>
      </p:sp>
      <p:sp>
        <p:nvSpPr>
          <p:cNvPr id="10" name="Rounded Rectangle 9"/>
          <p:cNvSpPr/>
          <p:nvPr/>
        </p:nvSpPr>
        <p:spPr>
          <a:xfrm>
            <a:off x="5303520" y="2286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2</a:t>
            </a:r>
          </a:p>
          <a:p>
            <a:pPr algn="l">
              <a:defRPr sz="1600">
                <a:solidFill>
                  <a:srgbClr val="FFFFFF"/>
                </a:solidFill>
              </a:defRPr>
            </a:pPr>
            <a:r>
              <a:t>Evidence usefulness can be represented too rigidly (Useful/Noise).</a:t>
            </a:r>
          </a:p>
        </p:txBody>
      </p:sp>
      <p:sp>
        <p:nvSpPr>
          <p:cNvPr id="11" name="Rounded Rectangle 10"/>
          <p:cNvSpPr/>
          <p:nvPr/>
        </p:nvSpPr>
        <p:spPr>
          <a:xfrm>
            <a:off x="9692640" y="2286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3</a:t>
            </a:r>
          </a:p>
          <a:p>
            <a:pPr algn="l">
              <a:defRPr sz="1600">
                <a:solidFill>
                  <a:srgbClr val="FFFFFF"/>
                </a:solidFill>
              </a:defRPr>
            </a:pPr>
            <a:r>
              <a:t>Mixed/CONFLICTING evidence requires explicit handling.</a:t>
            </a:r>
          </a:p>
        </p:txBody>
      </p:sp>
      <p:sp>
        <p:nvSpPr>
          <p:cNvPr id="12" name="Rounded Rectangle 11"/>
          <p:cNvSpPr/>
          <p:nvPr/>
        </p:nvSpPr>
        <p:spPr>
          <a:xfrm>
            <a:off x="914400" y="4572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4</a:t>
            </a:r>
          </a:p>
          <a:p>
            <a:pPr algn="l">
              <a:defRPr sz="1600">
                <a:solidFill>
                  <a:srgbClr val="FFFFFF"/>
                </a:solidFill>
              </a:defRPr>
            </a:pPr>
            <a:r>
              <a:t>Explanation robustness/STABILITY needs further analysis.</a:t>
            </a:r>
          </a:p>
        </p:txBody>
      </p:sp>
      <p:sp>
        <p:nvSpPr>
          <p:cNvPr id="13" name="Rounded Rectangle 12"/>
          <p:cNvSpPr/>
          <p:nvPr/>
        </p:nvSpPr>
        <p:spPr>
          <a:xfrm>
            <a:off x="5303520" y="4572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5</a:t>
            </a:r>
          </a:p>
          <a:p>
            <a:pPr algn="l">
              <a:defRPr sz="1600">
                <a:solidFill>
                  <a:srgbClr val="FFFFFF"/>
                </a:solidFill>
              </a:defRPr>
            </a:pPr>
            <a:r>
              <a:t>RELIABILITY / uncertainty needs stronger treatment.</a:t>
            </a:r>
          </a:p>
        </p:txBody>
      </p:sp>
      <p:sp>
        <p:nvSpPr>
          <p:cNvPr id="14" name="Rounded Rectangle 13"/>
          <p:cNvSpPr/>
          <p:nvPr/>
        </p:nvSpPr>
        <p:spPr>
          <a:xfrm>
            <a:off x="9692640" y="4572000"/>
            <a:ext cx="402336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i="0">
                <a:solidFill>
                  <a:srgbClr val="F6AD55"/>
                </a:solidFill>
                <a:latin typeface="Arial"/>
              </a:defRPr>
            </a:pPr>
            <a:r>
              <a:t>6</a:t>
            </a:r>
          </a:p>
          <a:p>
            <a:pPr algn="l">
              <a:defRPr sz="1600">
                <a:solidFill>
                  <a:srgbClr val="FFFFFF"/>
                </a:solidFill>
              </a:defRPr>
            </a:pPr>
            <a:r>
              <a:t>Evidence use may coexist with model-prior behavior.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10</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PROPOSED SOLUTION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From Research Gap to Proposed Extension</a:t>
            </a:r>
          </a:p>
        </p:txBody>
      </p:sp>
      <p:graphicFrame>
        <p:nvGraphicFramePr>
          <p:cNvPr id="9" name="Table 8"/>
          <p:cNvGraphicFramePr>
            <a:graphicFrameLocks noGrp="1"/>
          </p:cNvGraphicFramePr>
          <p:nvPr/>
        </p:nvGraphicFramePr>
        <p:xfrm>
          <a:off x="1371600" y="2011680"/>
          <a:ext cx="11887200" cy="3657600"/>
        </p:xfrm>
        <a:graphic>
          <a:graphicData uri="http://schemas.openxmlformats.org/drawingml/2006/table">
            <a:tbl>
              <a:tblPr firstRow="1" bandRow="1">
                <a:tableStyleId>{5C22544A-7EE6-4342-B048-85BDC9FD1C3A}</a:tableStyleId>
              </a:tblPr>
              <a:tblGrid>
                <a:gridCol w="5486400"/>
                <a:gridCol w="6400800"/>
              </a:tblGrid>
              <a:tr h="522514">
                <a:tc>
                  <a:txBody>
                    <a:bodyPr/>
                    <a:lstStyle/>
                    <a:p>
                      <a:pPr>
                        <a:defRPr sz="1600" b="1">
                          <a:solidFill>
                            <a:srgbClr val="FFFFFF"/>
                          </a:solidFill>
                        </a:defRPr>
                      </a:pPr>
                      <a:r>
                        <a:t>Research Gap</a:t>
                      </a:r>
                    </a:p>
                  </a:txBody>
                  <a:tcPr>
                    <a:solidFill>
                      <a:srgbClr val="1C3E6B"/>
                    </a:solidFill>
                  </a:tcPr>
                </a:tc>
                <a:tc>
                  <a:txBody>
                    <a:bodyPr/>
                    <a:lstStyle/>
                    <a:p>
                      <a:pPr>
                        <a:defRPr sz="1600" b="1">
                          <a:solidFill>
                            <a:srgbClr val="FFFFFF"/>
                          </a:solidFill>
                        </a:defRPr>
                      </a:pPr>
                      <a:r>
                        <a:t>Proposed Response</a:t>
                      </a:r>
                    </a:p>
                  </a:txBody>
                  <a:tcPr>
                    <a:solidFill>
                      <a:srgbClr val="1C3E6B"/>
                    </a:solidFill>
                  </a:tcPr>
                </a:tc>
              </a:tr>
              <a:tr h="522514">
                <a:tc>
                  <a:txBody>
                    <a:bodyPr/>
                    <a:lstStyle/>
                    <a:p>
                      <a:pPr>
                        <a:defRPr sz="1400" b="0">
                          <a:solidFill>
                            <a:srgbClr val="A0AEC0"/>
                          </a:solidFill>
                        </a:defRPr>
                      </a:pPr>
                      <a:r>
                        <a:t>Attribution != influence</a:t>
                      </a:r>
                    </a:p>
                  </a:txBody>
                  <a:tcPr>
                    <a:solidFill>
                      <a:srgbClr val="19345E"/>
                    </a:solidFill>
                  </a:tcPr>
                </a:tc>
                <a:tc>
                  <a:txBody>
                    <a:bodyPr/>
                    <a:lstStyle/>
                    <a:p>
                      <a:pPr>
                        <a:defRPr sz="1400" b="1">
                          <a:solidFill>
                            <a:srgbClr val="FFFFFF"/>
                          </a:solidFill>
                        </a:defRPr>
                      </a:pPr>
                      <a:r>
                        <a:t>Intervention-Based Influence</a:t>
                      </a:r>
                    </a:p>
                  </a:txBody>
                  <a:tcPr>
                    <a:solidFill>
                      <a:srgbClr val="19345E"/>
                    </a:solidFill>
                  </a:tcPr>
                </a:tc>
              </a:tr>
              <a:tr h="522514">
                <a:tc>
                  <a:txBody>
                    <a:bodyPr/>
                    <a:lstStyle/>
                    <a:p>
                      <a:pPr>
                        <a:defRPr sz="1400" b="0">
                          <a:solidFill>
                            <a:srgbClr val="A0AEC0"/>
                          </a:solidFill>
                        </a:defRPr>
                      </a:pPr>
                      <a:r>
                        <a:t>Binary Useful/Noise</a:t>
                      </a:r>
                    </a:p>
                  </a:txBody>
                  <a:tcPr>
                    <a:solidFill>
                      <a:srgbClr val="19345E"/>
                    </a:solidFill>
                  </a:tcPr>
                </a:tc>
                <a:tc>
                  <a:txBody>
                    <a:bodyPr/>
                    <a:lstStyle/>
                    <a:p>
                      <a:pPr>
                        <a:defRPr sz="1400" b="1">
                          <a:solidFill>
                            <a:srgbClr val="FFFFFF"/>
                          </a:solidFill>
                        </a:defRPr>
                      </a:pPr>
                      <a:r>
                        <a:t>Fuzzy Evidence Reasoning</a:t>
                      </a:r>
                    </a:p>
                  </a:txBody>
                  <a:tcPr>
                    <a:solidFill>
                      <a:srgbClr val="19345E"/>
                    </a:solidFill>
                  </a:tcPr>
                </a:tc>
              </a:tr>
              <a:tr h="522514">
                <a:tc>
                  <a:txBody>
                    <a:bodyPr/>
                    <a:lstStyle/>
                    <a:p>
                      <a:pPr>
                        <a:defRPr sz="1400" b="0">
                          <a:solidFill>
                            <a:srgbClr val="A0AEC0"/>
                          </a:solidFill>
                        </a:defRPr>
                      </a:pPr>
                      <a:r>
                        <a:t>Mixed evidence</a:t>
                      </a:r>
                    </a:p>
                  </a:txBody>
                  <a:tcPr>
                    <a:solidFill>
                      <a:srgbClr val="19345E"/>
                    </a:solidFill>
                  </a:tcPr>
                </a:tc>
                <a:tc>
                  <a:txBody>
                    <a:bodyPr/>
                    <a:lstStyle/>
                    <a:p>
                      <a:pPr>
                        <a:defRPr sz="1400" b="1">
                          <a:solidFill>
                            <a:srgbClr val="FFFFFF"/>
                          </a:solidFill>
                        </a:defRPr>
                      </a:pPr>
                      <a:r>
                        <a:t>Conflict Detection</a:t>
                      </a:r>
                    </a:p>
                  </a:txBody>
                  <a:tcPr>
                    <a:solidFill>
                      <a:srgbClr val="19345E"/>
                    </a:solidFill>
                  </a:tcPr>
                </a:tc>
              </a:tr>
              <a:tr h="522514">
                <a:tc>
                  <a:txBody>
                    <a:bodyPr/>
                    <a:lstStyle/>
                    <a:p>
                      <a:pPr>
                        <a:defRPr sz="1400" b="0">
                          <a:solidFill>
                            <a:srgbClr val="A0AEC0"/>
                          </a:solidFill>
                        </a:defRPr>
                      </a:pPr>
                      <a:r>
                        <a:t>Unstable explanation</a:t>
                      </a:r>
                    </a:p>
                  </a:txBody>
                  <a:tcPr>
                    <a:solidFill>
                      <a:srgbClr val="19345E"/>
                    </a:solidFill>
                  </a:tcPr>
                </a:tc>
                <a:tc>
                  <a:txBody>
                    <a:bodyPr/>
                    <a:lstStyle/>
                    <a:p>
                      <a:pPr>
                        <a:defRPr sz="1400" b="1">
                          <a:solidFill>
                            <a:srgbClr val="FFFFFF"/>
                          </a:solidFill>
                        </a:defRPr>
                      </a:pPr>
                      <a:r>
                        <a:t>Explanation Stability</a:t>
                      </a:r>
                    </a:p>
                  </a:txBody>
                  <a:tcPr>
                    <a:solidFill>
                      <a:srgbClr val="19345E"/>
                    </a:solidFill>
                  </a:tcPr>
                </a:tc>
              </a:tr>
              <a:tr h="522514">
                <a:tc>
                  <a:txBody>
                    <a:bodyPr/>
                    <a:lstStyle/>
                    <a:p>
                      <a:pPr>
                        <a:defRPr sz="1400" b="0">
                          <a:solidFill>
                            <a:srgbClr val="A0AEC0"/>
                          </a:solidFill>
                        </a:defRPr>
                      </a:pPr>
                      <a:r>
                        <a:t>Weak reliability</a:t>
                      </a:r>
                    </a:p>
                  </a:txBody>
                  <a:tcPr>
                    <a:solidFill>
                      <a:srgbClr val="19345E"/>
                    </a:solidFill>
                  </a:tcPr>
                </a:tc>
                <a:tc>
                  <a:txBody>
                    <a:bodyPr/>
                    <a:lstStyle/>
                    <a:p>
                      <a:pPr>
                        <a:defRPr sz="1400" b="1">
                          <a:solidFill>
                            <a:srgbClr val="FFFFFF"/>
                          </a:solidFill>
                        </a:defRPr>
                      </a:pPr>
                      <a:r>
                        <a:t>Reliability-Aware Scoring</a:t>
                      </a:r>
                    </a:p>
                  </a:txBody>
                  <a:tcPr>
                    <a:solidFill>
                      <a:srgbClr val="19345E"/>
                    </a:solidFill>
                  </a:tcPr>
                </a:tc>
              </a:tr>
              <a:tr h="522516">
                <a:tc>
                  <a:txBody>
                    <a:bodyPr/>
                    <a:lstStyle/>
                    <a:p>
                      <a:pPr>
                        <a:defRPr sz="1400" b="0">
                          <a:solidFill>
                            <a:srgbClr val="A0AEC0"/>
                          </a:solidFill>
                        </a:defRPr>
                      </a:pPr>
                      <a:r>
                        <a:t>Possible prior reliance</a:t>
                      </a:r>
                    </a:p>
                  </a:txBody>
                  <a:tcPr>
                    <a:solidFill>
                      <a:srgbClr val="19345E"/>
                    </a:solidFill>
                  </a:tcPr>
                </a:tc>
                <a:tc>
                  <a:txBody>
                    <a:bodyPr/>
                    <a:lstStyle/>
                    <a:p>
                      <a:pPr>
                        <a:defRPr sz="1400" b="1">
                          <a:solidFill>
                            <a:srgbClr val="FFFFFF"/>
                          </a:solidFill>
                        </a:defRPr>
                      </a:pPr>
                      <a:r>
                        <a:t>Attribution vs Intervention Comparison</a:t>
                      </a:r>
                    </a:p>
                  </a:txBody>
                  <a:tcPr>
                    <a:solidFill>
                      <a:srgbClr val="19345E"/>
                    </a:solidFill>
                  </a:tcPr>
                </a:tc>
              </a:tr>
            </a:tbl>
          </a:graphicData>
        </a:graphic>
      </p:graphicFrame>
      <p:sp>
        <p:nvSpPr>
          <p:cNvPr id="10" name="Rounded Rectangle 9"/>
          <p:cNvSpPr/>
          <p:nvPr/>
        </p:nvSpPr>
        <p:spPr>
          <a:xfrm>
            <a:off x="1371600" y="6217920"/>
            <a:ext cx="11887200" cy="109728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6AD55"/>
                </a:solidFill>
                <a:latin typeface="Arial"/>
              </a:defRPr>
            </a:pPr>
            <a:r>
              <a:t>OUR PROPOSED EXTENSION</a:t>
            </a:r>
            <a:br/>
          </a:p>
          <a:p>
            <a:pPr algn="ctr">
              <a:defRPr sz="1600">
                <a:solidFill>
                  <a:srgbClr val="FFFFFF"/>
                </a:solidFill>
              </a:defRPr>
            </a:pPr>
            <a:r>
              <a:t>Hybrid RAG + Evidence Attribution + Intervention + Fuzzy Reliability + Conflict + Stability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11</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PLANNED DATA / TECHNOLOGY STACK</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Dataset and Technology Plan</a:t>
            </a:r>
          </a:p>
        </p:txBody>
      </p:sp>
      <p:sp>
        <p:nvSpPr>
          <p:cNvPr id="9" name="Rounded Rectangle 8"/>
          <p:cNvSpPr/>
          <p:nvPr/>
        </p:nvSpPr>
        <p:spPr>
          <a:xfrm>
            <a:off x="914400" y="2286000"/>
            <a:ext cx="5943600" cy="548640"/>
          </a:xfrm>
          <a:prstGeom prst="roundRect">
            <a:avLst/>
          </a:prstGeom>
          <a:solidFill>
            <a:srgbClr val="1C3E6B"/>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Planned Dataset: FEVER</a:t>
            </a:r>
          </a:p>
        </p:txBody>
      </p:sp>
      <p:sp>
        <p:nvSpPr>
          <p:cNvPr id="10" name="TextBox 9"/>
          <p:cNvSpPr txBox="1"/>
          <p:nvPr/>
        </p:nvSpPr>
        <p:spPr>
          <a:xfrm>
            <a:off x="914400" y="2926080"/>
            <a:ext cx="5943600" cy="3657600"/>
          </a:xfrm>
          <a:prstGeom prst="rect">
            <a:avLst/>
          </a:prstGeom>
          <a:noFill/>
        </p:spPr>
        <p:txBody>
          <a:bodyPr wrap="none">
            <a:spAutoFit/>
          </a:bodyPr>
          <a:lstStyle/>
          <a:p/>
          <a:p>
            <a:pPr>
              <a:defRPr sz="1600">
                <a:solidFill>
                  <a:srgbClr val="FFFFFF"/>
                </a:solidFill>
              </a:defRPr>
            </a:pPr>
            <a:r>
              <a:t>- Large-scale fact verification dataset</a:t>
            </a:r>
          </a:p>
          <a:p>
            <a:pPr>
              <a:defRPr sz="1600">
                <a:solidFill>
                  <a:srgbClr val="FFFFFF"/>
                </a:solidFill>
              </a:defRPr>
            </a:pPr>
            <a:r>
              <a:t>- Textual claims</a:t>
            </a:r>
          </a:p>
          <a:p>
            <a:pPr>
              <a:defRPr sz="1600">
                <a:solidFill>
                  <a:srgbClr val="FFFFFF"/>
                </a:solidFill>
              </a:defRPr>
            </a:pPr>
            <a:r>
              <a:t>- Labels: Supports / Refutes / NEI</a:t>
            </a:r>
          </a:p>
          <a:p>
            <a:pPr>
              <a:defRPr sz="1600">
                <a:solidFill>
                  <a:srgbClr val="FFFFFF"/>
                </a:solidFill>
              </a:defRPr>
            </a:pPr>
            <a:r>
              <a:t>- Wikipedia evidence passages</a:t>
            </a:r>
          </a:p>
        </p:txBody>
      </p:sp>
      <p:sp>
        <p:nvSpPr>
          <p:cNvPr id="11" name="Rounded Rectangle 10"/>
          <p:cNvSpPr/>
          <p:nvPr/>
        </p:nvSpPr>
        <p:spPr>
          <a:xfrm>
            <a:off x="7772400" y="2286000"/>
            <a:ext cx="5943600" cy="548640"/>
          </a:xfrm>
          <a:prstGeom prst="roundRect">
            <a:avLst/>
          </a:prstGeom>
          <a:solidFill>
            <a:srgbClr val="1C3E6B"/>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Planned Technologies</a:t>
            </a:r>
          </a:p>
        </p:txBody>
      </p:sp>
      <p:sp>
        <p:nvSpPr>
          <p:cNvPr id="12" name="TextBox 11"/>
          <p:cNvSpPr txBox="1"/>
          <p:nvPr/>
        </p:nvSpPr>
        <p:spPr>
          <a:xfrm>
            <a:off x="7772400" y="2926080"/>
            <a:ext cx="5943600" cy="3657600"/>
          </a:xfrm>
          <a:prstGeom prst="rect">
            <a:avLst/>
          </a:prstGeom>
          <a:noFill/>
        </p:spPr>
        <p:txBody>
          <a:bodyPr wrap="none">
            <a:spAutoFit/>
          </a:bodyPr>
          <a:lstStyle/>
          <a:p/>
          <a:p>
            <a:pPr>
              <a:defRPr sz="1600" b="0">
                <a:solidFill>
                  <a:srgbClr val="FFFFFF"/>
                </a:solidFill>
              </a:defRPr>
            </a:pPr>
            <a:r>
              <a:t>- Core: Python, PyTorch, HF Transformers</a:t>
            </a:r>
          </a:p>
          <a:p>
            <a:pPr>
              <a:defRPr sz="1600" b="0">
                <a:solidFill>
                  <a:srgbClr val="FFFFFF"/>
                </a:solidFill>
              </a:defRPr>
            </a:pPr>
            <a:r>
              <a:t>- Retrieval: Sentence Transformers, FAISS, BM25</a:t>
            </a:r>
          </a:p>
          <a:p>
            <a:pPr>
              <a:defRPr sz="1600" b="0">
                <a:solidFill>
                  <a:srgbClr val="FFFFFF"/>
                </a:solidFill>
              </a:defRPr>
            </a:pPr>
            <a:r>
              <a:t>- XAI: SHAP, LIME</a:t>
            </a:r>
          </a:p>
          <a:p>
            <a:pPr>
              <a:defRPr sz="1600" b="0">
                <a:solidFill>
                  <a:srgbClr val="FFFFFF"/>
                </a:solidFill>
              </a:defRPr>
            </a:pPr>
            <a:r>
              <a:t>- Logic: scikit-fuzzy</a:t>
            </a:r>
          </a:p>
          <a:p>
            <a:pPr>
              <a:defRPr sz="1600" b="0">
                <a:solidFill>
                  <a:srgbClr val="FFFFFF"/>
                </a:solidFill>
              </a:defRPr>
            </a:pPr>
            <a:r>
              <a:t>- UI: Streamlit</a:t>
            </a:r>
          </a:p>
          <a:p>
            <a:br/>
            <a:pPr>
              <a:defRPr sz="1600" b="1">
                <a:solidFill>
                  <a:srgbClr val="FFFFFF"/>
                </a:solidFill>
              </a:defRPr>
            </a:pPr>
            <a:r>
              <a:t>Planned Models:</a:t>
            </a:r>
          </a:p>
          <a:p>
            <a:pPr>
              <a:defRPr sz="1600" b="0">
                <a:solidFill>
                  <a:srgbClr val="FFFFFF"/>
                </a:solidFill>
              </a:defRPr>
            </a:pPr>
            <a:r>
              <a:t>- Verifier: cross-encoder/nli-deberta-v3-base</a:t>
            </a:r>
          </a:p>
          <a:p>
            <a:pPr>
              <a:defRPr sz="1600" b="0">
                <a:solidFill>
                  <a:srgbClr val="FFFFFF"/>
                </a:solidFill>
              </a:defRPr>
            </a:pPr>
            <a:r>
              <a:t>- Embedder: all-MiniLM-L6-v2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12</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1-2 - Foundation and Data Preparation</a:t>
            </a:r>
          </a:p>
        </p:txBody>
      </p:sp>
      <p:sp>
        <p:nvSpPr>
          <p:cNvPr id="9" name="Rounded Rectangle 8"/>
          <p:cNvSpPr/>
          <p:nvPr/>
        </p:nvSpPr>
        <p:spPr>
          <a:xfrm>
            <a:off x="914400" y="32004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INPUT</a:t>
            </a:r>
            <a:br/>
            <a:br/>
            <a:r>
              <a:t>Raw claim/evidence</a:t>
            </a:r>
            <a:br/>
            <a:r>
              <a:t>data</a:t>
            </a:r>
          </a:p>
        </p:txBody>
      </p:sp>
      <p:sp>
        <p:nvSpPr>
          <p:cNvPr id="10" name="Right Arrow 9"/>
          <p:cNvSpPr/>
          <p:nvPr/>
        </p:nvSpPr>
        <p:spPr>
          <a:xfrm>
            <a:off x="41148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286000"/>
            <a:ext cx="5486400" cy="32004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600" b="1" i="0">
                <a:solidFill>
                  <a:srgbClr val="FFFFFF"/>
                </a:solidFill>
                <a:latin typeface="Arial"/>
              </a:defRPr>
            </a:pPr>
            <a:r>
              <a:t>PROCESS</a:t>
            </a:r>
            <a:br/>
          </a:p>
          <a:p>
            <a:pPr>
              <a:defRPr sz="1500">
                <a:solidFill>
                  <a:srgbClr val="FFFFFF"/>
                </a:solidFill>
              </a:defRPr>
            </a:pPr>
            <a:r>
              <a:t>- Project configuration &amp; reproducibility setup</a:t>
            </a:r>
          </a:p>
          <a:p>
            <a:pPr>
              <a:defRPr sz="1500">
                <a:solidFill>
                  <a:srgbClr val="FFFFFF"/>
                </a:solidFill>
              </a:defRPr>
            </a:pPr>
            <a:r>
              <a:t>- Preprocessing &amp; evidence normalization</a:t>
            </a:r>
          </a:p>
          <a:p>
            <a:pPr>
              <a:defRPr sz="1500">
                <a:solidFill>
                  <a:srgbClr val="FFFFFF"/>
                </a:solidFill>
              </a:defRPr>
            </a:pPr>
            <a:r>
              <a:t>- Evidence IDs &amp; source metadata generation</a:t>
            </a:r>
          </a:p>
          <a:p>
            <a:pPr>
              <a:defRPr sz="1500">
                <a:solidFill>
                  <a:srgbClr val="FFFFFF"/>
                </a:solidFill>
              </a:defRPr>
            </a:pPr>
            <a:r>
              <a:t>- Development dataset preparation</a:t>
            </a:r>
          </a:p>
        </p:txBody>
      </p:sp>
      <p:sp>
        <p:nvSpPr>
          <p:cNvPr id="12" name="Right Arrow 11"/>
          <p:cNvSpPr/>
          <p:nvPr/>
        </p:nvSpPr>
        <p:spPr>
          <a:xfrm>
            <a:off x="100584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0" y="32004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OUTPUT</a:t>
            </a:r>
            <a:br/>
            <a:br/>
            <a:r>
              <a:t>Structured claim +</a:t>
            </a:r>
            <a:br/>
            <a:r>
              <a:t>evidence records</a:t>
            </a:r>
          </a:p>
        </p:txBody>
      </p:sp>
      <p:sp>
        <p:nvSpPr>
          <p:cNvPr id="14" name="Rounded Rectangle 13"/>
          <p:cNvSpPr/>
          <p:nvPr/>
        </p:nvSpPr>
        <p:spPr>
          <a:xfrm>
            <a:off x="4572000" y="5943600"/>
            <a:ext cx="5486400" cy="91440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6AD55"/>
                </a:solidFill>
                <a:latin typeface="Arial"/>
              </a:defRPr>
            </a:pPr>
            <a:r>
              <a:t>Planned Engineering Foundation:</a:t>
            </a:r>
            <a:br/>
            <a:r>
              <a:t>Configuration | Logging | Testing | Reproducibility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13</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3 - Hybrid Evidence Retrieval</a:t>
            </a:r>
          </a:p>
        </p:txBody>
      </p:sp>
      <p:sp>
        <p:nvSpPr>
          <p:cNvPr id="9" name="Rounded Rectangle 8"/>
          <p:cNvSpPr/>
          <p:nvPr/>
        </p:nvSpPr>
        <p:spPr>
          <a:xfrm>
            <a:off x="914400" y="32004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FFFFFF"/>
                </a:solidFill>
                <a:latin typeface="Arial"/>
              </a:defRPr>
            </a:pPr>
            <a:r>
              <a:t>INPUT</a:t>
            </a:r>
            <a:br/>
            <a:br/>
            <a:r>
              <a:t>Claim</a:t>
            </a:r>
          </a:p>
        </p:txBody>
      </p:sp>
      <p:sp>
        <p:nvSpPr>
          <p:cNvPr id="10" name="Right Arrow 9"/>
          <p:cNvSpPr/>
          <p:nvPr/>
        </p:nvSpPr>
        <p:spPr>
          <a:xfrm>
            <a:off x="41148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828800"/>
            <a:ext cx="5486400" cy="41148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PROCESS</a:t>
            </a:r>
            <a:br/>
            <a:br/>
            <a:r>
              <a:t>BM25 -&gt; Lexical matching</a:t>
            </a:r>
            <a:br/>
            <a:r>
              <a:t>+</a:t>
            </a:r>
            <a:br/>
            <a:r>
              <a:t>Dense Embeddings -&gt; Semantic matching</a:t>
            </a:r>
            <a:br/>
            <a:br/>
            <a:r>
              <a:t>|</a:t>
            </a:r>
            <a:br/>
            <a:r>
              <a:t>Score normalization</a:t>
            </a:r>
            <a:br/>
            <a:r>
              <a:t>|</a:t>
            </a:r>
            <a:br/>
            <a:r>
              <a:t>Fusion / Reranking</a:t>
            </a:r>
            <a:br/>
            <a:r>
              <a:t>|</a:t>
            </a:r>
            <a:br/>
            <a:r>
              <a:t>Top-k selection</a:t>
            </a:r>
          </a:p>
        </p:txBody>
      </p:sp>
      <p:sp>
        <p:nvSpPr>
          <p:cNvPr id="12" name="Right Arrow 11"/>
          <p:cNvSpPr/>
          <p:nvPr/>
        </p:nvSpPr>
        <p:spPr>
          <a:xfrm>
            <a:off x="100584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0" y="2743200"/>
            <a:ext cx="3200400" cy="22860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OUTPUT</a:t>
            </a:r>
            <a:br/>
            <a:br/>
            <a:r>
              <a:t>Ranked evidence</a:t>
            </a:r>
            <a:br/>
          </a:p>
          <a:p>
            <a:pPr algn="l">
              <a:defRPr sz="1400"/>
            </a:pPr>
            <a:r>
              <a:t>- evidence ID</a:t>
            </a:r>
          </a:p>
          <a:p>
            <a:pPr algn="l">
              <a:defRPr sz="1400"/>
            </a:pPr>
            <a:r>
              <a:t>- text &amp; score</a:t>
            </a:r>
          </a:p>
          <a:p>
            <a:pPr algn="l">
              <a:defRPr sz="1400"/>
            </a:pPr>
            <a:r>
              <a:t>- rank</a:t>
            </a:r>
          </a:p>
          <a:p>
            <a:pPr algn="l">
              <a:defRPr sz="1400"/>
            </a:pPr>
            <a:r>
              <a:t>- source metadata</a:t>
            </a:r>
          </a:p>
        </p:txBody>
      </p:sp>
      <p:sp>
        <p:nvSpPr>
          <p:cNvPr id="14" name="Rounded Rectangle 13"/>
          <p:cNvSpPr/>
          <p:nvPr/>
        </p:nvSpPr>
        <p:spPr>
          <a:xfrm>
            <a:off x="4572000" y="6400800"/>
            <a:ext cx="5486400" cy="731520"/>
          </a:xfrm>
          <a:prstGeom prst="roundRect">
            <a:avLst/>
          </a:prstGeom>
          <a:solidFill>
            <a:srgbClr val="1C3E6B"/>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LEXICAL + SEMANTIC = HYBRID RETRIEVAL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14</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4 - Claim-Evidence Verification</a:t>
            </a:r>
          </a:p>
        </p:txBody>
      </p:sp>
      <p:sp>
        <p:nvSpPr>
          <p:cNvPr id="9" name="Rounded Rectangle 8"/>
          <p:cNvSpPr/>
          <p:nvPr/>
        </p:nvSpPr>
        <p:spPr>
          <a:xfrm>
            <a:off x="914400" y="32004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INPUT</a:t>
            </a:r>
            <a:br/>
            <a:br/>
            <a:r>
              <a:t>Claim + Retrieved</a:t>
            </a:r>
            <a:br/>
            <a:r>
              <a:t>Evidence</a:t>
            </a:r>
          </a:p>
        </p:txBody>
      </p:sp>
      <p:sp>
        <p:nvSpPr>
          <p:cNvPr id="10" name="Right Arrow 9"/>
          <p:cNvSpPr/>
          <p:nvPr/>
        </p:nvSpPr>
        <p:spPr>
          <a:xfrm>
            <a:off x="41148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286000"/>
            <a:ext cx="5486400" cy="32004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PROCESS (NLI)</a:t>
            </a:r>
            <a:br/>
            <a:br/>
            <a:r>
              <a:t>Evidence -&gt; Premise</a:t>
            </a:r>
            <a:br/>
            <a:r>
              <a:t>Claim -&gt; Hypothesis</a:t>
            </a:r>
            <a:br/>
            <a:r>
              <a:t>|</a:t>
            </a:r>
            <a:br/>
            <a:r>
              <a:t>NLI Prediction</a:t>
            </a:r>
            <a:br/>
            <a:r>
              <a:t>(cross-encoder/nli-deberta-v3-base)</a:t>
            </a:r>
          </a:p>
        </p:txBody>
      </p:sp>
      <p:sp>
        <p:nvSpPr>
          <p:cNvPr id="12" name="Right Arrow 11"/>
          <p:cNvSpPr/>
          <p:nvPr/>
        </p:nvSpPr>
        <p:spPr>
          <a:xfrm>
            <a:off x="100584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0" y="2286000"/>
            <a:ext cx="32004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OUTPUT</a:t>
            </a:r>
            <a:br/>
            <a:br/>
            <a:r>
              <a:t>SUPPORTS</a:t>
            </a:r>
            <a:br/>
            <a:r>
              <a:t>REFUTES</a:t>
            </a:r>
            <a:br/>
            <a:r>
              <a:t>NOT ENOUGH INFO</a:t>
            </a:r>
            <a:br/>
            <a:br/>
            <a:r>
              <a:t>+ class probabilities</a:t>
            </a:r>
            <a:br/>
            <a:r>
              <a:t>+ predicted-class confidence</a:t>
            </a:r>
          </a:p>
        </p:txBody>
      </p:sp>
      <p:sp>
        <p:nvSpPr>
          <p:cNvPr id="14" name="Rounded Rectangle 13"/>
          <p:cNvSpPr/>
          <p:nvPr/>
        </p:nvSpPr>
        <p:spPr>
          <a:xfrm>
            <a:off x="1371600" y="6217920"/>
            <a:ext cx="11887200" cy="914400"/>
          </a:xfrm>
          <a:prstGeom prst="roundRect">
            <a:avLst/>
          </a:prstGeom>
          <a:solidFill>
            <a:srgbClr val="0B172C"/>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6AD55"/>
                </a:solidFill>
                <a:latin typeface="Arial"/>
              </a:defRPr>
            </a:pPr>
            <a:r>
              <a:t>IMPORTANT CONCEPTUAL DISTINCTION:</a:t>
            </a:r>
            <a:br/>
            <a:r>
              <a:t>VERDICT is produced by the verification model.</a:t>
            </a:r>
            <a:br/>
            <a:r>
              <a:t>EXPLANATION RELIABILITY will be estimated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15</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5 - Evidence-Level SHAP + LIME Attribution</a:t>
            </a:r>
          </a:p>
        </p:txBody>
      </p:sp>
      <p:sp>
        <p:nvSpPr>
          <p:cNvPr id="9" name="Rounded Rectangle 8"/>
          <p:cNvSpPr/>
          <p:nvPr/>
        </p:nvSpPr>
        <p:spPr>
          <a:xfrm>
            <a:off x="914400" y="32004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INPUT</a:t>
            </a:r>
            <a:br/>
            <a:br/>
            <a:r>
              <a:t>Claim + evidence pieces</a:t>
            </a:r>
          </a:p>
        </p:txBody>
      </p:sp>
      <p:sp>
        <p:nvSpPr>
          <p:cNvPr id="10" name="Right Arrow 9"/>
          <p:cNvSpPr/>
          <p:nvPr/>
        </p:nvSpPr>
        <p:spPr>
          <a:xfrm>
            <a:off x="41148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286000"/>
            <a:ext cx="5486400" cy="32004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PROCESS</a:t>
            </a:r>
            <a:br/>
            <a:br/>
            <a:r>
              <a:t>Evidence subset perturbation</a:t>
            </a:r>
            <a:br/>
            <a:r>
              <a:t>|</a:t>
            </a:r>
            <a:br/>
            <a:r>
              <a:t>Verifier prediction</a:t>
            </a:r>
            <a:br/>
            <a:r>
              <a:t>|</a:t>
            </a:r>
            <a:br/>
            <a:r>
              <a:t>SHAP + LIME contribution</a:t>
            </a:r>
            <a:br/>
            <a:r>
              <a:t>|</a:t>
            </a:r>
            <a:br/>
            <a:r>
              <a:t>Evidence ranking</a:t>
            </a:r>
          </a:p>
        </p:txBody>
      </p:sp>
      <p:sp>
        <p:nvSpPr>
          <p:cNvPr id="12" name="Right Arrow 11"/>
          <p:cNvSpPr/>
          <p:nvPr/>
        </p:nvSpPr>
        <p:spPr>
          <a:xfrm>
            <a:off x="10058400" y="3749039"/>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0" y="2286000"/>
            <a:ext cx="32004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OUTPUT</a:t>
            </a:r>
            <a:br/>
            <a:br/>
            <a:r>
              <a:t>Evidence-level</a:t>
            </a:r>
            <a:br/>
            <a:r>
              <a:t>attribution scores</a:t>
            </a:r>
            <a:br/>
            <a:br/>
            <a:r>
              <a:t>Example:</a:t>
            </a:r>
            <a:br/>
            <a:r>
              <a:t>E1 -&gt; High attribution</a:t>
            </a:r>
            <a:br/>
            <a:r>
              <a:t>E2 -&gt; Low attribution</a:t>
            </a:r>
            <a:br/>
            <a:r>
              <a:t>E3 -&gt; Very Low</a:t>
            </a:r>
          </a:p>
        </p:txBody>
      </p:sp>
      <p:sp>
        <p:nvSpPr>
          <p:cNvPr id="14" name="Rounded Rectangle 13"/>
          <p:cNvSpPr/>
          <p:nvPr/>
        </p:nvSpPr>
        <p:spPr>
          <a:xfrm>
            <a:off x="1371600" y="6217920"/>
            <a:ext cx="11887200" cy="73152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4FD1C5"/>
                </a:solidFill>
                <a:latin typeface="Arial"/>
              </a:defRPr>
            </a:pPr>
            <a:r>
              <a:t>KEY QUESTION: 'Which evidence appears to influence the model?'</a:t>
            </a:r>
            <a:br/>
            <a:r>
              <a:t>(Note: This estimates apparent influence, not formal causality)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16</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6 - Intervention-Based Evidence Influence</a:t>
            </a:r>
          </a:p>
        </p:txBody>
      </p:sp>
      <p:sp>
        <p:nvSpPr>
          <p:cNvPr id="9" name="Rounded Rectangle 8"/>
          <p:cNvSpPr/>
          <p:nvPr/>
        </p:nvSpPr>
        <p:spPr>
          <a:xfrm>
            <a:off x="914400" y="2743200"/>
            <a:ext cx="3200400" cy="13716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INPUT</a:t>
            </a:r>
            <a:br/>
            <a:br/>
            <a:r>
              <a:t>Same Claim +</a:t>
            </a:r>
            <a:br/>
            <a:r>
              <a:t>Same Evidence Set</a:t>
            </a:r>
          </a:p>
        </p:txBody>
      </p:sp>
      <p:sp>
        <p:nvSpPr>
          <p:cNvPr id="10" name="Right Arrow 9"/>
          <p:cNvSpPr/>
          <p:nvPr/>
        </p:nvSpPr>
        <p:spPr>
          <a:xfrm>
            <a:off x="4114800" y="3383280"/>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828800"/>
            <a:ext cx="5486400" cy="41148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PROCESS</a:t>
            </a:r>
            <a:br/>
            <a:br/>
            <a:r>
              <a:t>Baseline: E1 + E2 + E3 -&gt; Verifier probability</a:t>
            </a:r>
            <a:br/>
            <a:br/>
            <a:r>
              <a:t>Then: Remove E1 / Remove E2 / Remove E3</a:t>
            </a:r>
            <a:br/>
            <a:br/>
            <a:r>
              <a:t>Measure: Delta-P + Verdict Change</a:t>
            </a:r>
            <a:br/>
            <a:br/>
            <a:r>
              <a:t>Intervention Influence =</a:t>
            </a:r>
            <a:br/>
            <a:r>
              <a:t>absolute change in baseline predicted-class probability</a:t>
            </a:r>
          </a:p>
        </p:txBody>
      </p:sp>
      <p:sp>
        <p:nvSpPr>
          <p:cNvPr id="12" name="Right Arrow 11"/>
          <p:cNvSpPr/>
          <p:nvPr/>
        </p:nvSpPr>
        <p:spPr>
          <a:xfrm>
            <a:off x="10058400" y="3383280"/>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0" y="2743200"/>
            <a:ext cx="3200400" cy="18288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OUTPUT</a:t>
            </a:r>
            <a:br/>
            <a:br/>
            <a:r>
              <a:t>- Evidence influence score</a:t>
            </a:r>
            <a:br/>
            <a:r>
              <a:t>- Probability change</a:t>
            </a:r>
            <a:br/>
            <a:r>
              <a:t>- Verdict flip</a:t>
            </a:r>
          </a:p>
        </p:txBody>
      </p:sp>
      <p:sp>
        <p:nvSpPr>
          <p:cNvPr id="14" name="Rounded Rectangle 13"/>
          <p:cNvSpPr/>
          <p:nvPr/>
        </p:nvSpPr>
        <p:spPr>
          <a:xfrm>
            <a:off x="1371600" y="6400800"/>
            <a:ext cx="11887200" cy="914400"/>
          </a:xfrm>
          <a:prstGeom prst="roundRect">
            <a:avLst/>
          </a:prstGeom>
          <a:solidFill>
            <a:srgbClr val="1C3E6B"/>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KEY DISTINCTION</a:t>
            </a:r>
            <a:br/>
            <a:r>
              <a:t>SHAP/LIME: 'What appears influential?'</a:t>
            </a:r>
            <a:br/>
            <a:r>
              <a:t>INTERVENTION: 'What changes when the evidence is removed?'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17</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7 - Fuzzy Evidence Reasoning</a:t>
            </a:r>
          </a:p>
        </p:txBody>
      </p:sp>
      <p:sp>
        <p:nvSpPr>
          <p:cNvPr id="9" name="Rounded Rectangle 8"/>
          <p:cNvSpPr/>
          <p:nvPr/>
        </p:nvSpPr>
        <p:spPr>
          <a:xfrm>
            <a:off x="914400" y="2011680"/>
            <a:ext cx="36576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FFFFF"/>
                </a:solidFill>
                <a:latin typeface="Arial"/>
              </a:defRPr>
            </a:pPr>
            <a:r>
              <a:t>INPUT SIGNALS</a:t>
            </a:r>
            <a:br/>
            <a:br/>
            <a:r>
              <a:t>- Semantic relevance</a:t>
            </a:r>
            <a:br/>
            <a:r>
              <a:t>- SHAP attribution</a:t>
            </a:r>
            <a:br/>
            <a:r>
              <a:t>- LIME attribution</a:t>
            </a:r>
            <a:br/>
            <a:r>
              <a:t>- Intervention influence</a:t>
            </a:r>
            <a:br/>
            <a:r>
              <a:t>- Contradiction</a:t>
            </a:r>
            <a:br/>
            <a:r>
              <a:t>- Source reliability</a:t>
            </a:r>
            <a:br/>
            <a:r>
              <a:t>- Explanation stability</a:t>
            </a:r>
          </a:p>
        </p:txBody>
      </p:sp>
      <p:sp>
        <p:nvSpPr>
          <p:cNvPr id="10" name="Right Arrow 9"/>
          <p:cNvSpPr/>
          <p:nvPr/>
        </p:nvSpPr>
        <p:spPr>
          <a:xfrm>
            <a:off x="4572000" y="3566160"/>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0" y="2011680"/>
            <a:ext cx="4572000" cy="32004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PROCESS</a:t>
            </a:r>
            <a:br/>
            <a:br/>
            <a:r>
              <a:t>Normalize to [0,1]</a:t>
            </a:r>
            <a:br/>
            <a:r>
              <a:t>|</a:t>
            </a:r>
            <a:br/>
            <a:r>
              <a:t>LOW / MEDIUM / HIGH membership</a:t>
            </a:r>
            <a:br/>
            <a:r>
              <a:t>|</a:t>
            </a:r>
            <a:br/>
            <a:r>
              <a:t>IF-THEN fuzzy rules</a:t>
            </a:r>
            <a:br/>
            <a:r>
              <a:t>|</a:t>
            </a:r>
            <a:br/>
            <a:r>
              <a:t>Defuzzification</a:t>
            </a:r>
          </a:p>
        </p:txBody>
      </p:sp>
      <p:sp>
        <p:nvSpPr>
          <p:cNvPr id="12" name="Right Arrow 11"/>
          <p:cNvSpPr/>
          <p:nvPr/>
        </p:nvSpPr>
        <p:spPr>
          <a:xfrm>
            <a:off x="9601200" y="3566160"/>
            <a:ext cx="4572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0" y="2011680"/>
            <a:ext cx="36576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FFFFF"/>
                </a:solidFill>
                <a:latin typeface="Arial"/>
              </a:defRPr>
            </a:pPr>
            <a:r>
              <a:t>OUTPUTS</a:t>
            </a:r>
            <a:br/>
            <a:br/>
            <a:r>
              <a:t>- Evidence relevance</a:t>
            </a:r>
            <a:br/>
            <a:r>
              <a:t>- Evidence reliability</a:t>
            </a:r>
            <a:br/>
            <a:r>
              <a:t>- Support degree</a:t>
            </a:r>
            <a:br/>
            <a:r>
              <a:t>- Contradiction degree</a:t>
            </a:r>
            <a:br/>
            <a:r>
              <a:t>- Explanation confidence</a:t>
            </a:r>
          </a:p>
        </p:txBody>
      </p:sp>
      <p:sp>
        <p:nvSpPr>
          <p:cNvPr id="14" name="Rounded Rectangle 13"/>
          <p:cNvSpPr/>
          <p:nvPr/>
        </p:nvSpPr>
        <p:spPr>
          <a:xfrm>
            <a:off x="1371600" y="5669280"/>
            <a:ext cx="11887200" cy="1371600"/>
          </a:xfrm>
          <a:prstGeom prst="roundRect">
            <a:avLst/>
          </a:prstGeom>
          <a:solidFill>
            <a:srgbClr val="0B172C"/>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FFFFF"/>
                </a:solidFill>
                <a:latin typeface="Arial"/>
              </a:defRPr>
            </a:pPr>
            <a:r>
              <a:t>KEY IDEA: Represents gradual evidence quality instead of rigid Useful/Noise labels.</a:t>
            </a:r>
            <a:br/>
            <a:br/>
            <a:r>
              <a:t>Example Rule:</a:t>
            </a:r>
            <a:br/>
            <a:r>
              <a:t>IF attribution = HIGH AND intervention = LOW THEN explanation confidence = LOW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18</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8 - Conflict Detection and Explanation Stability</a:t>
            </a:r>
          </a:p>
        </p:txBody>
      </p:sp>
      <p:sp>
        <p:nvSpPr>
          <p:cNvPr id="9" name="Rounded Rectangle 8"/>
          <p:cNvSpPr/>
          <p:nvPr/>
        </p:nvSpPr>
        <p:spPr>
          <a:xfrm>
            <a:off x="914400" y="2011680"/>
            <a:ext cx="5943600" cy="5029200"/>
          </a:xfrm>
          <a:prstGeom prst="roundRect">
            <a:avLst/>
          </a:prstGeom>
          <a:solidFill>
            <a:srgbClr val="19345E"/>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6AD55"/>
                </a:solidFill>
                <a:latin typeface="Arial"/>
              </a:defRPr>
            </a:pPr>
            <a:r>
              <a:t>CONFLICT DETECTION</a:t>
            </a:r>
            <a:br/>
            <a:br/>
            <a:r>
              <a:t>INPUT: Claim + Evidence</a:t>
            </a:r>
            <a:br/>
            <a:br/>
            <a:r>
              <a:t>Classify:</a:t>
            </a:r>
            <a:br/>
            <a:r>
              <a:t>SUPPORTING | REFUTING | NEUTRAL</a:t>
            </a:r>
            <a:br/>
            <a:br/>
            <a:r>
              <a:t>If meaningful support + refutation coexist:</a:t>
            </a:r>
            <a:br/>
            <a:r>
              <a:t>CONFLICT DETECTED</a:t>
            </a:r>
            <a:br/>
            <a:br/>
            <a:r>
              <a:t>OUTPUT:</a:t>
            </a:r>
            <a:br/>
            <a:r>
              <a:t>- Evidence roles</a:t>
            </a:r>
            <a:br/>
            <a:r>
              <a:t>- Conflict score</a:t>
            </a:r>
            <a:br/>
            <a:r>
              <a:t>- Supporting/Refuting evidence</a:t>
            </a:r>
          </a:p>
        </p:txBody>
      </p:sp>
      <p:sp>
        <p:nvSpPr>
          <p:cNvPr id="10" name="Rounded Rectangle 9"/>
          <p:cNvSpPr/>
          <p:nvPr/>
        </p:nvSpPr>
        <p:spPr>
          <a:xfrm>
            <a:off x="7772400" y="2011680"/>
            <a:ext cx="5943600" cy="5029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4FD1C5"/>
                </a:solidFill>
                <a:latin typeface="Arial"/>
              </a:defRPr>
            </a:pPr>
            <a:r>
              <a:t>EXPLANATION STABILITY</a:t>
            </a:r>
            <a:br/>
            <a:br/>
            <a:r>
              <a:t>Controlled perturbation:</a:t>
            </a:r>
            <a:br/>
            <a:r>
              <a:t>Evidence-order permutation and other safe perturbations where feasible</a:t>
            </a:r>
            <a:br/>
            <a:br/>
            <a:r>
              <a:t>Recompute evidence-level attribution</a:t>
            </a:r>
            <a:br/>
            <a:br/>
            <a:r>
              <a:t>Compare using: Spearman correlation</a:t>
            </a:r>
            <a:br/>
            <a:br/>
            <a:r>
              <a:t>OUTPUT:</a:t>
            </a:r>
            <a:br/>
            <a:r>
              <a:t>Stability Score [0,1]</a:t>
            </a:r>
          </a:p>
        </p:txBody>
      </p:sp>
      <p:sp>
        <p:nvSpPr>
          <p:cNvPr id="11" name="Rounded Rectangle 10"/>
          <p:cNvSpPr/>
          <p:nvPr/>
        </p:nvSpPr>
        <p:spPr>
          <a:xfrm>
            <a:off x="914400" y="7315200"/>
            <a:ext cx="12801600" cy="36576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i="0">
                <a:solidFill>
                  <a:srgbClr val="FFFFFF"/>
                </a:solidFill>
                <a:latin typeface="Arial"/>
              </a:defRPr>
            </a:pPr>
            <a:r>
              <a:t>Important: Conflict != claim truth value. Stability != factual correctness.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19</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IMPLEMENTATION PLAN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Phase 9 - Proposed End-to-End System</a:t>
            </a:r>
          </a:p>
        </p:txBody>
      </p:sp>
      <p:sp>
        <p:nvSpPr>
          <p:cNvPr id="9" name="Rounded Rectangle 8"/>
          <p:cNvSpPr/>
          <p:nvPr/>
        </p:nvSpPr>
        <p:spPr>
          <a:xfrm>
            <a:off x="914400" y="1645920"/>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USER CLAIM</a:t>
            </a:r>
          </a:p>
        </p:txBody>
      </p:sp>
      <p:sp>
        <p:nvSpPr>
          <p:cNvPr id="10" name="Down Arrow 9"/>
          <p:cNvSpPr/>
          <p:nvPr/>
        </p:nvSpPr>
        <p:spPr>
          <a:xfrm>
            <a:off x="2651760" y="2103120"/>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286000"/>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HYBRID RAG</a:t>
            </a:r>
          </a:p>
        </p:txBody>
      </p:sp>
      <p:sp>
        <p:nvSpPr>
          <p:cNvPr id="12" name="Down Arrow 11"/>
          <p:cNvSpPr/>
          <p:nvPr/>
        </p:nvSpPr>
        <p:spPr>
          <a:xfrm>
            <a:off x="2651760" y="2743200"/>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926080"/>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TOP-K EVIDENCE</a:t>
            </a:r>
          </a:p>
        </p:txBody>
      </p:sp>
      <p:sp>
        <p:nvSpPr>
          <p:cNvPr id="14" name="Down Arrow 13"/>
          <p:cNvSpPr/>
          <p:nvPr/>
        </p:nvSpPr>
        <p:spPr>
          <a:xfrm>
            <a:off x="2651760" y="3383279"/>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3566159"/>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NLI VERIFICATION</a:t>
            </a:r>
          </a:p>
        </p:txBody>
      </p:sp>
      <p:sp>
        <p:nvSpPr>
          <p:cNvPr id="16" name="Down Arrow 15"/>
          <p:cNvSpPr/>
          <p:nvPr/>
        </p:nvSpPr>
        <p:spPr>
          <a:xfrm>
            <a:off x="2651760" y="4023359"/>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4206240"/>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SHAP + LIME</a:t>
            </a:r>
          </a:p>
        </p:txBody>
      </p:sp>
      <p:sp>
        <p:nvSpPr>
          <p:cNvPr id="18" name="Down Arrow 17"/>
          <p:cNvSpPr/>
          <p:nvPr/>
        </p:nvSpPr>
        <p:spPr>
          <a:xfrm>
            <a:off x="2651760" y="4663440"/>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4846320"/>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INTERVENTION</a:t>
            </a:r>
          </a:p>
        </p:txBody>
      </p:sp>
      <p:sp>
        <p:nvSpPr>
          <p:cNvPr id="20" name="Down Arrow 19"/>
          <p:cNvSpPr/>
          <p:nvPr/>
        </p:nvSpPr>
        <p:spPr>
          <a:xfrm>
            <a:off x="2651760" y="5303520"/>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5486399"/>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CONFLICT + STABILITY</a:t>
            </a:r>
          </a:p>
        </p:txBody>
      </p:sp>
      <p:sp>
        <p:nvSpPr>
          <p:cNvPr id="22" name="Down Arrow 21"/>
          <p:cNvSpPr/>
          <p:nvPr/>
        </p:nvSpPr>
        <p:spPr>
          <a:xfrm>
            <a:off x="2651760" y="5943599"/>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4400" y="6126479"/>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FUZZY REASONING</a:t>
            </a:r>
          </a:p>
        </p:txBody>
      </p:sp>
      <p:sp>
        <p:nvSpPr>
          <p:cNvPr id="24" name="Down Arrow 23"/>
          <p:cNvSpPr/>
          <p:nvPr/>
        </p:nvSpPr>
        <p:spPr>
          <a:xfrm>
            <a:off x="2651760" y="6583679"/>
            <a:ext cx="182880" cy="18288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6766559"/>
            <a:ext cx="3657600" cy="4572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i="0">
                <a:solidFill>
                  <a:srgbClr val="FFFFFF"/>
                </a:solidFill>
                <a:latin typeface="Arial"/>
              </a:defRPr>
            </a:pPr>
            <a:r>
              <a:t>RELIABILITY-AWARE EXPLANATION</a:t>
            </a:r>
          </a:p>
        </p:txBody>
      </p:sp>
      <p:sp>
        <p:nvSpPr>
          <p:cNvPr id="26" name="Right Arrow 25"/>
          <p:cNvSpPr/>
          <p:nvPr/>
        </p:nvSpPr>
        <p:spPr>
          <a:xfrm>
            <a:off x="4572000" y="4114800"/>
            <a:ext cx="914400" cy="274320"/>
          </a:xfrm>
          <a:prstGeom prst="right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943600" y="2286000"/>
            <a:ext cx="7772400" cy="4114800"/>
          </a:xfrm>
          <a:prstGeom prst="roundRect">
            <a:avLst/>
          </a:prstGeom>
          <a:solidFill>
            <a:srgbClr val="1C3E6B"/>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F6AD55"/>
                </a:solidFill>
                <a:latin typeface="Arial"/>
              </a:defRPr>
            </a:pPr>
            <a:r>
              <a:t>PROPOSED SYSTEM OUTPUT</a:t>
            </a:r>
            <a:br/>
            <a:br/>
            <a:r>
              <a:t>FACT-CHECKING VERDICT</a:t>
            </a:r>
            <a:br/>
            <a:r>
              <a:t>+</a:t>
            </a:r>
            <a:br/>
            <a:r>
              <a:t>EVIDENCE ATTRIBUTION</a:t>
            </a:r>
            <a:br/>
            <a:r>
              <a:t>+</a:t>
            </a:r>
            <a:br/>
            <a:r>
              <a:t>INTERVENTION INFLUENCE</a:t>
            </a:r>
            <a:br/>
            <a:r>
              <a:t>+</a:t>
            </a:r>
            <a:br/>
            <a:r>
              <a:t>CONFLICT STATUS</a:t>
            </a:r>
            <a:br/>
            <a:r>
              <a:t>+</a:t>
            </a:r>
            <a:br/>
            <a:r>
              <a:t>EXPLANATION STABILITY</a:t>
            </a:r>
            <a:br/>
            <a:r>
              <a:t>+</a:t>
            </a:r>
            <a:br/>
            <a:r>
              <a:t>EVIDENCE/EXPLANATION RELIABILITY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20</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EVALUATION STRATEGY</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Planned Research Evaluation</a:t>
            </a:r>
          </a:p>
        </p:txBody>
      </p:sp>
      <p:sp>
        <p:nvSpPr>
          <p:cNvPr id="9" name="Rounded Rectangle 8"/>
          <p:cNvSpPr/>
          <p:nvPr/>
        </p:nvSpPr>
        <p:spPr>
          <a:xfrm>
            <a:off x="914400" y="2011680"/>
            <a:ext cx="64008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6AD55"/>
                </a:solidFill>
                <a:latin typeface="Arial"/>
              </a:defRPr>
            </a:pPr>
            <a:r>
              <a:t>CORE EXPERIMENT 1:</a:t>
            </a:r>
            <a:br/>
            <a:r>
              <a:t>SHAP/LIME vs Intervention-Based Influence</a:t>
            </a:r>
            <a:br/>
            <a:br/>
            <a:r>
              <a:t>Question: Do evidence pieces identified as important by SHAP/LIME also influence the verifier when removed?</a:t>
            </a:r>
            <a:br/>
            <a:br/>
            <a:r>
              <a:t>Planned metrics:</a:t>
            </a:r>
            <a:br/>
            <a:r>
              <a:t>- Top-k agreement</a:t>
            </a:r>
            <a:br/>
            <a:r>
              <a:t>- Attribution/intervention correlation</a:t>
            </a:r>
            <a:br/>
            <a:r>
              <a:t>- Delta-P &amp; Verdict-flip rate</a:t>
            </a:r>
          </a:p>
        </p:txBody>
      </p:sp>
      <p:sp>
        <p:nvSpPr>
          <p:cNvPr id="10" name="Rounded Rectangle 9"/>
          <p:cNvSpPr/>
          <p:nvPr/>
        </p:nvSpPr>
        <p:spPr>
          <a:xfrm>
            <a:off x="7772400" y="2011680"/>
            <a:ext cx="5943600" cy="3200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F6AD55"/>
                </a:solidFill>
                <a:latin typeface="Arial"/>
              </a:defRPr>
            </a:pPr>
            <a:r>
              <a:t>CORE EXPERIMENT 2:</a:t>
            </a:r>
            <a:br/>
            <a:r>
              <a:t>Fuzzy vs Non-Fuzzy Evidence Reliability</a:t>
            </a:r>
            <a:br/>
            <a:br/>
            <a:r>
              <a:t>Question: Does fuzzy reasoning improve evidence/explanation reliability assessment compared with a simpler weighted baseline?</a:t>
            </a:r>
          </a:p>
        </p:txBody>
      </p:sp>
      <p:sp>
        <p:nvSpPr>
          <p:cNvPr id="11" name="Rounded Rectangle 10"/>
          <p:cNvSpPr/>
          <p:nvPr/>
        </p:nvSpPr>
        <p:spPr>
          <a:xfrm>
            <a:off x="914400" y="5486400"/>
            <a:ext cx="12801600" cy="182880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i="0">
                <a:solidFill>
                  <a:srgbClr val="4FD1C5"/>
                </a:solidFill>
                <a:latin typeface="Arial"/>
              </a:defRPr>
            </a:pPr>
            <a:r>
              <a:t>OPTIONAL FUTURE EVALUATIONS</a:t>
            </a:r>
            <a:br/>
            <a:r>
              <a:t>- Retrieval robustness</a:t>
            </a:r>
            <a:br/>
            <a:r>
              <a:t>- Evidence/prior reliance</a:t>
            </a:r>
            <a:br/>
            <a:r>
              <a:t>- Broader domain evaluation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72C"/>
        </a:solidFill>
        <a:effectLst/>
      </p:bgPr>
    </p:bg>
    <p:spTree>
      <p:nvGrpSpPr>
        <p:cNvPr id="1" name=""/>
        <p:cNvGrpSpPr/>
        <p:nvPr/>
      </p:nvGrpSpPr>
      <p:grpSpPr/>
      <p:sp>
        <p:nvSpPr>
          <p:cNvPr id="2" name="Oval 1"/>
          <p:cNvSpPr/>
          <p:nvPr/>
        </p:nvSpPr>
        <p:spPr>
          <a:xfrm>
            <a:off x="11887200" y="-2743200"/>
            <a:ext cx="7315200" cy="7315200"/>
          </a:xfrm>
          <a:prstGeom prst="ellipse">
            <a:avLst/>
          </a:prstGeom>
          <a:solidFill>
            <a:srgbClr val="1C3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6400800"/>
            <a:ext cx="3657600" cy="3657600"/>
          </a:xfrm>
          <a:prstGeom prst="ellipse">
            <a:avLst/>
          </a:prstGeom>
          <a:solidFill>
            <a:srgbClr val="15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00" cy="91440"/>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680960"/>
            <a:ext cx="9144000" cy="365760"/>
          </a:xfrm>
          <a:prstGeom prst="rect">
            <a:avLst/>
          </a:prstGeom>
          <a:noFill/>
        </p:spPr>
        <p:txBody>
          <a:bodyPr wrap="none">
            <a:spAutoFit/>
          </a:bodyPr>
          <a:lstStyle/>
          <a:p>
            <a:pPr>
              <a:defRPr sz="1000" i="1">
                <a:solidFill>
                  <a:srgbClr val="A0AEC0"/>
                </a:solidFill>
                <a:latin typeface="Arial"/>
              </a:defRPr>
            </a:pPr>
            <a:r>
              <a:t>Fuzzy-Causal Evidence Attribution for Explainable RAG-Based Fact-Checking</a:t>
            </a:r>
          </a:p>
        </p:txBody>
      </p:sp>
      <p:sp>
        <p:nvSpPr>
          <p:cNvPr id="6" name="TextBox 5"/>
          <p:cNvSpPr txBox="1"/>
          <p:nvPr/>
        </p:nvSpPr>
        <p:spPr>
          <a:xfrm>
            <a:off x="13716000" y="7680960"/>
            <a:ext cx="457200" cy="365760"/>
          </a:xfrm>
          <a:prstGeom prst="rect">
            <a:avLst/>
          </a:prstGeom>
          <a:noFill/>
        </p:spPr>
        <p:txBody>
          <a:bodyPr wrap="none">
            <a:spAutoFit/>
          </a:bodyPr>
          <a:lstStyle/>
          <a:p>
            <a:pPr>
              <a:defRPr sz="1000">
                <a:solidFill>
                  <a:srgbClr val="A0AEC0"/>
                </a:solidFill>
                <a:latin typeface="Arial"/>
              </a:defRPr>
            </a:pPr>
            <a:r>
              <a:t>21</a:t>
            </a:r>
          </a:p>
        </p:txBody>
      </p:sp>
      <p:sp>
        <p:nvSpPr>
          <p:cNvPr id="7" name="TextBox 6"/>
          <p:cNvSpPr txBox="1"/>
          <p:nvPr/>
        </p:nvSpPr>
        <p:spPr>
          <a:xfrm>
            <a:off x="914400" y="457200"/>
            <a:ext cx="9144000" cy="457200"/>
          </a:xfrm>
          <a:prstGeom prst="rect">
            <a:avLst/>
          </a:prstGeom>
          <a:noFill/>
        </p:spPr>
        <p:txBody>
          <a:bodyPr wrap="square">
            <a:spAutoFit/>
          </a:bodyPr>
          <a:lstStyle/>
          <a:p>
            <a:pPr algn="l">
              <a:defRPr sz="1200" b="1" i="0">
                <a:solidFill>
                  <a:srgbClr val="F6AD55"/>
                </a:solidFill>
                <a:latin typeface="Arial"/>
              </a:defRPr>
            </a:pPr>
            <a:r>
              <a:t>CONCLUSION</a:t>
            </a:r>
          </a:p>
        </p:txBody>
      </p:sp>
      <p:sp>
        <p:nvSpPr>
          <p:cNvPr id="8" name="TextBox 7"/>
          <p:cNvSpPr txBox="1"/>
          <p:nvPr/>
        </p:nvSpPr>
        <p:spPr>
          <a:xfrm>
            <a:off x="914400" y="731520"/>
            <a:ext cx="10972800" cy="914400"/>
          </a:xfrm>
          <a:prstGeom prst="rect">
            <a:avLst/>
          </a:prstGeom>
          <a:noFill/>
        </p:spPr>
        <p:txBody>
          <a:bodyPr wrap="square">
            <a:spAutoFit/>
          </a:bodyPr>
          <a:lstStyle/>
          <a:p>
            <a:pPr algn="l">
              <a:defRPr sz="3600" b="1" i="0">
                <a:solidFill>
                  <a:srgbClr val="FFFFFF"/>
                </a:solidFill>
                <a:latin typeface="Arial"/>
              </a:defRPr>
            </a:pPr>
            <a:r>
              <a:t>Proposed Contribution</a:t>
            </a:r>
          </a:p>
        </p:txBody>
      </p:sp>
      <p:sp>
        <p:nvSpPr>
          <p:cNvPr id="9" name="Rounded Rectangle 8"/>
          <p:cNvSpPr/>
          <p:nvPr/>
        </p:nvSpPr>
        <p:spPr>
          <a:xfrm>
            <a:off x="1371600" y="2011680"/>
            <a:ext cx="11887200" cy="914400"/>
          </a:xfrm>
          <a:prstGeom prst="roundRect">
            <a:avLst/>
          </a:prstGeom>
          <a:solidFill>
            <a:srgbClr val="19345E"/>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i="0">
                <a:solidFill>
                  <a:srgbClr val="A0AEC0"/>
                </a:solidFill>
                <a:latin typeface="Arial"/>
              </a:defRPr>
            </a:pPr>
            <a:r>
              <a:t>FROM:</a:t>
            </a:r>
            <a:br/>
            <a:r>
              <a:t>'Which evidence appears influential?'</a:t>
            </a:r>
          </a:p>
        </p:txBody>
      </p:sp>
      <p:sp>
        <p:nvSpPr>
          <p:cNvPr id="10" name="Down Arrow 9"/>
          <p:cNvSpPr/>
          <p:nvPr/>
        </p:nvSpPr>
        <p:spPr>
          <a:xfrm>
            <a:off x="7223760" y="3017520"/>
            <a:ext cx="182880" cy="365760"/>
          </a:xfrm>
          <a:prstGeom prst="downArrow">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71600" y="3474720"/>
            <a:ext cx="11887200" cy="1371600"/>
          </a:xfrm>
          <a:prstGeom prst="roundRect">
            <a:avLst/>
          </a:prstGeom>
          <a:solidFill>
            <a:srgbClr val="1C3E6B"/>
          </a:solidFill>
          <a:ln w="19050">
            <a:solidFill>
              <a:srgbClr val="F6AD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i="0">
                <a:solidFill>
                  <a:srgbClr val="F6AD55"/>
                </a:solidFill>
                <a:latin typeface="Arial"/>
              </a:defRPr>
            </a:pPr>
            <a:r>
              <a:t>TO:</a:t>
            </a:r>
            <a:br/>
            <a:r>
              <a:t>'Which evidence appears influential,</a:t>
            </a:r>
            <a:br/>
            <a:r>
              <a:t>does removing it change the decision,</a:t>
            </a:r>
            <a:br/>
            <a:r>
              <a:t>and how reliable should the resulting explanation be?'</a:t>
            </a:r>
          </a:p>
        </p:txBody>
      </p:sp>
      <p:sp>
        <p:nvSpPr>
          <p:cNvPr id="12" name="Rounded Rectangle 11"/>
          <p:cNvSpPr/>
          <p:nvPr/>
        </p:nvSpPr>
        <p:spPr>
          <a:xfrm>
            <a:off x="1371600" y="5120640"/>
            <a:ext cx="11887200" cy="914400"/>
          </a:xfrm>
          <a:prstGeom prst="roundRect">
            <a:avLst/>
          </a:prstGeom>
          <a:solidFill>
            <a:srgbClr val="0B172C"/>
          </a:solidFill>
          <a:ln w="19050">
            <a:solidFill>
              <a:srgbClr val="4FD1C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0">
                <a:solidFill>
                  <a:srgbClr val="4FD1C5"/>
                </a:solidFill>
                <a:latin typeface="Arial"/>
              </a:defRPr>
            </a:pPr>
            <a:r>
              <a:t>Hybrid RAG + Evidence-Level SHAP/LIME + Intervention-Based Influence</a:t>
            </a:r>
            <a:br/>
            <a:r>
              <a:t>+ Fuzzy Reasoning + Conflict Detection + Explanation Stability</a:t>
            </a:r>
          </a:p>
        </p:txBody>
      </p:sp>
      <p:sp>
        <p:nvSpPr>
          <p:cNvPr id="13" name="Rounded Rectangle 12"/>
          <p:cNvSpPr/>
          <p:nvPr/>
        </p:nvSpPr>
        <p:spPr>
          <a:xfrm>
            <a:off x="1371600" y="6400800"/>
            <a:ext cx="11887200" cy="731520"/>
          </a:xfrm>
          <a:prstGeom prst="roundRect">
            <a:avLst/>
          </a:prstGeom>
          <a:solidFill>
            <a:srgbClr val="0B172C"/>
          </a:solidFill>
          <a:ln w="19050">
            <a:solidFill>
              <a:srgbClr val="0B172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i="1">
                <a:solidFill>
                  <a:srgbClr val="FFFFFF"/>
                </a:solidFill>
                <a:latin typeface="Arial"/>
              </a:defRPr>
            </a:pPr>
            <a:r>
              <a:t>The project aims to provide a more transparent, evidence-grounded, and reliability-aware approach to automated fact-checking.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