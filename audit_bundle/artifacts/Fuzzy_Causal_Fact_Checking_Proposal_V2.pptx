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9" autoAdjust="0"/>
  </p:normalViewPr>
  <p:slideViewPr>
    <p:cSldViewPr snapToGrid="0" snapToObjects="1">
      <p:cViewPr varScale="1">
        <p:scale>
          <a:sx n="84" d="100"/>
          <a:sy n="84" d="100"/>
        </p:scale>
        <p:origin x="420"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0EE522-F947-4BA8-96AF-D510AFF68D72}" type="datetimeFigureOut">
              <a:rPr lang="en-US" smtClean="0"/>
              <a:t>20-Aug-26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653B70-3BF7-4D4C-93D2-9108CD4FA2A0}" type="slidenum">
              <a:rPr lang="en-US" smtClean="0"/>
              <a:t>‹#›</a:t>
            </a:fld>
            <a:endParaRPr lang="en-US"/>
          </a:p>
        </p:txBody>
      </p:sp>
    </p:spTree>
    <p:extLst>
      <p:ext uri="{BB962C8B-B14F-4D97-AF65-F5344CB8AC3E}">
        <p14:creationId xmlns:p14="http://schemas.microsoft.com/office/powerpoint/2010/main" val="1278788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653B70-3BF7-4D4C-93D2-9108CD4FA2A0}" type="slidenum">
              <a:rPr lang="en-US" smtClean="0"/>
              <a:t>1</a:t>
            </a:fld>
            <a:endParaRPr lang="en-US"/>
          </a:p>
        </p:txBody>
      </p:sp>
    </p:spTree>
    <p:extLst>
      <p:ext uri="{BB962C8B-B14F-4D97-AF65-F5344CB8AC3E}">
        <p14:creationId xmlns:p14="http://schemas.microsoft.com/office/powerpoint/2010/main" val="4146687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20-Aug-26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20-Aug-26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20-Aug-26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20-Aug-26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20-Aug-26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20-Aug-26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72C"/>
        </a:solidFill>
        <a:effectLst/>
      </p:bgPr>
    </p:bg>
    <p:spTree>
      <p:nvGrpSpPr>
        <p:cNvPr id="1" name=""/>
        <p:cNvGrpSpPr/>
        <p:nvPr/>
      </p:nvGrpSpPr>
      <p:grpSpPr>
        <a:xfrm>
          <a:off x="0" y="0"/>
          <a:ext cx="0" cy="0"/>
          <a:chOff x="0" y="0"/>
          <a:chExt cx="0" cy="0"/>
        </a:xfrm>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a:t>
            </a:r>
          </a:p>
        </p:txBody>
      </p:sp>
      <p:sp>
        <p:nvSpPr>
          <p:cNvPr id="7" name="TextBox 6"/>
          <p:cNvSpPr txBox="1"/>
          <p:nvPr/>
        </p:nvSpPr>
        <p:spPr>
          <a:xfrm>
            <a:off x="731520" y="731520"/>
            <a:ext cx="9144000" cy="457200"/>
          </a:xfrm>
          <a:prstGeom prst="rect">
            <a:avLst/>
          </a:prstGeom>
          <a:noFill/>
        </p:spPr>
        <p:txBody>
          <a:bodyPr wrap="square">
            <a:spAutoFit/>
          </a:bodyPr>
          <a:lstStyle/>
          <a:p>
            <a:pPr algn="l">
              <a:defRPr sz="1200" b="1" i="0">
                <a:solidFill>
                  <a:srgbClr val="F6AD55"/>
                </a:solidFill>
                <a:latin typeface="Arial"/>
              </a:defRPr>
            </a:pPr>
            <a:r>
              <a:t>PROPOSED FINAL-YEAR BE / B.TECH CSE PROJECT</a:t>
            </a:r>
          </a:p>
        </p:txBody>
      </p:sp>
      <p:sp>
        <p:nvSpPr>
          <p:cNvPr id="8" name="TextBox 7"/>
          <p:cNvSpPr txBox="1"/>
          <p:nvPr/>
        </p:nvSpPr>
        <p:spPr>
          <a:xfrm>
            <a:off x="731520" y="1371600"/>
            <a:ext cx="10972800" cy="1645920"/>
          </a:xfrm>
          <a:prstGeom prst="rect">
            <a:avLst/>
          </a:prstGeom>
          <a:noFill/>
        </p:spPr>
        <p:txBody>
          <a:bodyPr wrap="square">
            <a:spAutoFit/>
          </a:bodyPr>
          <a:lstStyle/>
          <a:p>
            <a:pPr algn="l">
              <a:lnSpc>
                <a:spcPct val="110000"/>
              </a:lnSpc>
              <a:defRPr sz="4200" b="1" i="0">
                <a:solidFill>
                  <a:srgbClr val="FFFFFF"/>
                </a:solidFill>
                <a:latin typeface="Arial"/>
              </a:defRPr>
            </a:pPr>
            <a:r>
              <a:t>Fuzzy-Causal Evidence Attribution for</a:t>
            </a:r>
            <a:br/>
            <a:r>
              <a:t>Explainable RAG-Based Fact-Checking</a:t>
            </a:r>
          </a:p>
        </p:txBody>
      </p:sp>
      <p:sp>
        <p:nvSpPr>
          <p:cNvPr id="9" name="TextBox 8"/>
          <p:cNvSpPr txBox="1"/>
          <p:nvPr/>
        </p:nvSpPr>
        <p:spPr>
          <a:xfrm>
            <a:off x="731520" y="3017520"/>
            <a:ext cx="10972800" cy="457200"/>
          </a:xfrm>
          <a:prstGeom prst="rect">
            <a:avLst/>
          </a:prstGeom>
          <a:noFill/>
        </p:spPr>
        <p:txBody>
          <a:bodyPr wrap="square">
            <a:spAutoFit/>
          </a:bodyPr>
          <a:lstStyle/>
          <a:p>
            <a:pPr algn="l">
              <a:defRPr sz="1800" b="0" i="1">
                <a:solidFill>
                  <a:srgbClr val="4FD1C5"/>
                </a:solidFill>
                <a:latin typeface="Arial"/>
              </a:defRPr>
            </a:pPr>
            <a:r>
              <a:t>Research-Inspired Extension of “Explaining the Role of Evidence in Data-Driven Fact-Checking”</a:t>
            </a:r>
          </a:p>
        </p:txBody>
      </p:sp>
      <p:sp>
        <p:nvSpPr>
          <p:cNvPr id="10" name="Rounded Rectangle 9"/>
          <p:cNvSpPr/>
          <p:nvPr/>
        </p:nvSpPr>
        <p:spPr>
          <a:xfrm>
            <a:off x="731520" y="3840480"/>
            <a:ext cx="192024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i="0">
                <a:solidFill>
                  <a:srgbClr val="FFFFFF"/>
                </a:solidFill>
                <a:latin typeface="Arial"/>
              </a:defRPr>
            </a:pPr>
            <a:r>
              <a:t>Claim</a:t>
            </a:r>
          </a:p>
        </p:txBody>
      </p:sp>
      <p:sp>
        <p:nvSpPr>
          <p:cNvPr id="11" name="Right Arrow 10"/>
          <p:cNvSpPr/>
          <p:nvPr/>
        </p:nvSpPr>
        <p:spPr>
          <a:xfrm>
            <a:off x="2651760"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017520" y="3840480"/>
            <a:ext cx="192024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i="0">
                <a:solidFill>
                  <a:srgbClr val="FFFFFF"/>
                </a:solidFill>
                <a:latin typeface="Arial"/>
              </a:defRPr>
            </a:pPr>
            <a:r>
              <a:t>Evidence</a:t>
            </a:r>
            <a:br/>
            <a:r>
              <a:t>Retrieval</a:t>
            </a:r>
          </a:p>
        </p:txBody>
      </p:sp>
      <p:sp>
        <p:nvSpPr>
          <p:cNvPr id="13" name="Right Arrow 12"/>
          <p:cNvSpPr/>
          <p:nvPr/>
        </p:nvSpPr>
        <p:spPr>
          <a:xfrm>
            <a:off x="4937760"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303520" y="3840480"/>
            <a:ext cx="192024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i="0">
                <a:solidFill>
                  <a:srgbClr val="FFFFFF"/>
                </a:solidFill>
                <a:latin typeface="Arial"/>
              </a:defRPr>
            </a:pPr>
            <a:r>
              <a:t>Verification</a:t>
            </a:r>
          </a:p>
        </p:txBody>
      </p:sp>
      <p:sp>
        <p:nvSpPr>
          <p:cNvPr id="15" name="Right Arrow 14"/>
          <p:cNvSpPr/>
          <p:nvPr/>
        </p:nvSpPr>
        <p:spPr>
          <a:xfrm>
            <a:off x="7223760"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589520" y="3840480"/>
            <a:ext cx="192024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i="0">
                <a:solidFill>
                  <a:srgbClr val="FFFFFF"/>
                </a:solidFill>
                <a:latin typeface="Arial"/>
              </a:defRPr>
            </a:pPr>
            <a:r>
              <a:t>Attribution</a:t>
            </a:r>
          </a:p>
        </p:txBody>
      </p:sp>
      <p:sp>
        <p:nvSpPr>
          <p:cNvPr id="17" name="Right Arrow 16"/>
          <p:cNvSpPr/>
          <p:nvPr/>
        </p:nvSpPr>
        <p:spPr>
          <a:xfrm>
            <a:off x="9509760"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875520" y="3840480"/>
            <a:ext cx="192024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i="0">
                <a:solidFill>
                  <a:srgbClr val="FFFFFF"/>
                </a:solidFill>
                <a:latin typeface="Arial"/>
              </a:defRPr>
            </a:pPr>
            <a:r>
              <a:t>Causal</a:t>
            </a:r>
            <a:br/>
            <a:r>
              <a:t>Intervention</a:t>
            </a:r>
          </a:p>
        </p:txBody>
      </p:sp>
      <p:sp>
        <p:nvSpPr>
          <p:cNvPr id="19" name="Right Arrow 18"/>
          <p:cNvSpPr/>
          <p:nvPr/>
        </p:nvSpPr>
        <p:spPr>
          <a:xfrm>
            <a:off x="11795760"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2161520" y="3840480"/>
            <a:ext cx="192024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i="0">
                <a:solidFill>
                  <a:srgbClr val="FFFFFF"/>
                </a:solidFill>
                <a:latin typeface="Arial"/>
              </a:defRPr>
            </a:pPr>
            <a:r>
              <a:t>Fuzzy</a:t>
            </a:r>
            <a:br/>
            <a:r>
              <a:t>Reliability</a:t>
            </a:r>
          </a:p>
        </p:txBody>
      </p:sp>
      <p:sp>
        <p:nvSpPr>
          <p:cNvPr id="21" name="TextBox 20"/>
          <p:cNvSpPr txBox="1"/>
          <p:nvPr/>
        </p:nvSpPr>
        <p:spPr>
          <a:xfrm>
            <a:off x="731520" y="5486400"/>
            <a:ext cx="4572000" cy="457200"/>
          </a:xfrm>
          <a:prstGeom prst="rect">
            <a:avLst/>
          </a:prstGeom>
          <a:noFill/>
        </p:spPr>
        <p:txBody>
          <a:bodyPr wrap="square">
            <a:spAutoFit/>
          </a:bodyPr>
          <a:lstStyle/>
          <a:p>
            <a:pPr algn="l">
              <a:defRPr sz="1200" b="1" i="0">
                <a:solidFill>
                  <a:srgbClr val="F6AD55"/>
                </a:solidFill>
                <a:latin typeface="Arial"/>
              </a:defRPr>
            </a:pPr>
            <a:r>
              <a:t>PROJECT TEAM</a:t>
            </a:r>
          </a:p>
        </p:txBody>
      </p:sp>
      <p:sp>
        <p:nvSpPr>
          <p:cNvPr id="22" name="Rectangle 21"/>
          <p:cNvSpPr/>
          <p:nvPr/>
        </p:nvSpPr>
        <p:spPr>
          <a:xfrm>
            <a:off x="731520" y="5120640"/>
            <a:ext cx="12801600" cy="9144"/>
          </a:xfrm>
          <a:prstGeom prst="rect">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31520" y="5943600"/>
            <a:ext cx="4023360" cy="1188720"/>
          </a:xfrm>
          <a:prstGeom prst="roundRect">
            <a:avLst/>
          </a:prstGeom>
          <a:solidFill>
            <a:srgbClr val="19345E"/>
          </a:solidFill>
          <a:ln w="1270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14400" y="6172200"/>
            <a:ext cx="731520" cy="731520"/>
          </a:xfrm>
          <a:prstGeom prst="ellipse">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i="0">
                <a:solidFill>
                  <a:srgbClr val="0B172C"/>
                </a:solidFill>
                <a:latin typeface="Arial"/>
              </a:defRPr>
            </a:pPr>
            <a:r>
              <a:t>BD</a:t>
            </a:r>
          </a:p>
        </p:txBody>
      </p:sp>
      <p:sp>
        <p:nvSpPr>
          <p:cNvPr id="25" name="TextBox 24"/>
          <p:cNvSpPr txBox="1"/>
          <p:nvPr/>
        </p:nvSpPr>
        <p:spPr>
          <a:xfrm>
            <a:off x="1737360" y="6126480"/>
            <a:ext cx="2743200" cy="365760"/>
          </a:xfrm>
          <a:prstGeom prst="rect">
            <a:avLst/>
          </a:prstGeom>
          <a:noFill/>
        </p:spPr>
        <p:txBody>
          <a:bodyPr wrap="square">
            <a:spAutoFit/>
          </a:bodyPr>
          <a:lstStyle/>
          <a:p>
            <a:pPr algn="l">
              <a:defRPr sz="1400" b="1" i="0">
                <a:solidFill>
                  <a:srgbClr val="FFFFFF"/>
                </a:solidFill>
                <a:latin typeface="Arial"/>
              </a:defRPr>
            </a:pPr>
            <a:r>
              <a:rPr dirty="0"/>
              <a:t>Bala Dheeraj Chennavaram</a:t>
            </a:r>
          </a:p>
        </p:txBody>
      </p:sp>
      <p:sp>
        <p:nvSpPr>
          <p:cNvPr id="26" name="TextBox 25"/>
          <p:cNvSpPr txBox="1"/>
          <p:nvPr/>
        </p:nvSpPr>
        <p:spPr>
          <a:xfrm>
            <a:off x="1737360" y="6400800"/>
            <a:ext cx="2743200" cy="365760"/>
          </a:xfrm>
          <a:prstGeom prst="rect">
            <a:avLst/>
          </a:prstGeom>
          <a:noFill/>
        </p:spPr>
        <p:txBody>
          <a:bodyPr wrap="square">
            <a:spAutoFit/>
          </a:bodyPr>
          <a:lstStyle/>
          <a:p>
            <a:pPr algn="l">
              <a:defRPr sz="1200" b="0" i="0">
                <a:solidFill>
                  <a:srgbClr val="4FD1C5"/>
                </a:solidFill>
                <a:latin typeface="Arial"/>
              </a:defRPr>
            </a:pPr>
            <a:r>
              <a:rPr dirty="0"/>
              <a:t>1602-23-733-006</a:t>
            </a:r>
          </a:p>
        </p:txBody>
      </p:sp>
      <p:sp>
        <p:nvSpPr>
          <p:cNvPr id="27" name="Rounded Rectangle 26"/>
          <p:cNvSpPr/>
          <p:nvPr/>
        </p:nvSpPr>
        <p:spPr>
          <a:xfrm>
            <a:off x="5120640" y="5943600"/>
            <a:ext cx="4023360" cy="1188720"/>
          </a:xfrm>
          <a:prstGeom prst="roundRect">
            <a:avLst/>
          </a:prstGeom>
          <a:solidFill>
            <a:srgbClr val="19345E"/>
          </a:solidFill>
          <a:ln w="1270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303520" y="6172200"/>
            <a:ext cx="731520" cy="731520"/>
          </a:xfrm>
          <a:prstGeom prst="ellipse">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i="0">
                <a:solidFill>
                  <a:srgbClr val="0B172C"/>
                </a:solidFill>
                <a:latin typeface="Arial"/>
              </a:defRPr>
            </a:pPr>
            <a:r>
              <a:t>AS</a:t>
            </a:r>
          </a:p>
        </p:txBody>
      </p:sp>
      <p:sp>
        <p:nvSpPr>
          <p:cNvPr id="29" name="TextBox 28"/>
          <p:cNvSpPr txBox="1"/>
          <p:nvPr/>
        </p:nvSpPr>
        <p:spPr>
          <a:xfrm>
            <a:off x="6126480" y="6126480"/>
            <a:ext cx="2743200" cy="365760"/>
          </a:xfrm>
          <a:prstGeom prst="rect">
            <a:avLst/>
          </a:prstGeom>
          <a:noFill/>
        </p:spPr>
        <p:txBody>
          <a:bodyPr wrap="square">
            <a:spAutoFit/>
          </a:bodyPr>
          <a:lstStyle/>
          <a:p>
            <a:pPr algn="l">
              <a:defRPr sz="1400" b="1" i="0">
                <a:solidFill>
                  <a:srgbClr val="FFFFFF"/>
                </a:solidFill>
                <a:latin typeface="Arial"/>
              </a:defRPr>
            </a:pPr>
            <a:r>
              <a:t>A Saketh Vamshee</a:t>
            </a:r>
          </a:p>
        </p:txBody>
      </p:sp>
      <p:sp>
        <p:nvSpPr>
          <p:cNvPr id="30" name="TextBox 29"/>
          <p:cNvSpPr txBox="1"/>
          <p:nvPr/>
        </p:nvSpPr>
        <p:spPr>
          <a:xfrm>
            <a:off x="6126480" y="6400800"/>
            <a:ext cx="2743200" cy="365760"/>
          </a:xfrm>
          <a:prstGeom prst="rect">
            <a:avLst/>
          </a:prstGeom>
          <a:noFill/>
        </p:spPr>
        <p:txBody>
          <a:bodyPr wrap="square">
            <a:spAutoFit/>
          </a:bodyPr>
          <a:lstStyle/>
          <a:p>
            <a:pPr algn="l">
              <a:defRPr sz="1200" b="0" i="0">
                <a:solidFill>
                  <a:srgbClr val="4FD1C5"/>
                </a:solidFill>
                <a:latin typeface="Arial"/>
              </a:defRPr>
            </a:pPr>
            <a:r>
              <a:t>1602-23-733-042</a:t>
            </a:r>
          </a:p>
        </p:txBody>
      </p:sp>
      <p:sp>
        <p:nvSpPr>
          <p:cNvPr id="31" name="Rounded Rectangle 30"/>
          <p:cNvSpPr/>
          <p:nvPr/>
        </p:nvSpPr>
        <p:spPr>
          <a:xfrm>
            <a:off x="9509760" y="5943600"/>
            <a:ext cx="4023360" cy="1188720"/>
          </a:xfrm>
          <a:prstGeom prst="roundRect">
            <a:avLst/>
          </a:prstGeom>
          <a:solidFill>
            <a:srgbClr val="19345E"/>
          </a:solidFill>
          <a:ln w="1270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692640" y="6172200"/>
            <a:ext cx="731520" cy="731520"/>
          </a:xfrm>
          <a:prstGeom prst="ellipse">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i="0">
                <a:solidFill>
                  <a:srgbClr val="0B172C"/>
                </a:solidFill>
                <a:latin typeface="Arial"/>
              </a:defRPr>
            </a:pPr>
            <a:r>
              <a:t>VR</a:t>
            </a:r>
          </a:p>
        </p:txBody>
      </p:sp>
      <p:sp>
        <p:nvSpPr>
          <p:cNvPr id="33" name="TextBox 32"/>
          <p:cNvSpPr txBox="1"/>
          <p:nvPr/>
        </p:nvSpPr>
        <p:spPr>
          <a:xfrm>
            <a:off x="10515600" y="6126480"/>
            <a:ext cx="2743200" cy="365760"/>
          </a:xfrm>
          <a:prstGeom prst="rect">
            <a:avLst/>
          </a:prstGeom>
          <a:noFill/>
        </p:spPr>
        <p:txBody>
          <a:bodyPr wrap="square">
            <a:spAutoFit/>
          </a:bodyPr>
          <a:lstStyle/>
          <a:p>
            <a:pPr algn="l">
              <a:defRPr sz="1400" b="1" i="0">
                <a:solidFill>
                  <a:srgbClr val="FFFFFF"/>
                </a:solidFill>
                <a:latin typeface="Arial"/>
              </a:defRPr>
            </a:pPr>
            <a:r>
              <a:t>V Rohit Reddy</a:t>
            </a:r>
          </a:p>
        </p:txBody>
      </p:sp>
      <p:sp>
        <p:nvSpPr>
          <p:cNvPr id="34" name="TextBox 33"/>
          <p:cNvSpPr txBox="1"/>
          <p:nvPr/>
        </p:nvSpPr>
        <p:spPr>
          <a:xfrm>
            <a:off x="10515600" y="6400800"/>
            <a:ext cx="2743200" cy="365760"/>
          </a:xfrm>
          <a:prstGeom prst="rect">
            <a:avLst/>
          </a:prstGeom>
          <a:noFill/>
        </p:spPr>
        <p:txBody>
          <a:bodyPr wrap="square">
            <a:spAutoFit/>
          </a:bodyPr>
          <a:lstStyle/>
          <a:p>
            <a:pPr algn="l">
              <a:defRPr sz="1200" b="0" i="0">
                <a:solidFill>
                  <a:srgbClr val="4FD1C5"/>
                </a:solidFill>
                <a:latin typeface="Arial"/>
              </a:defRPr>
            </a:pPr>
            <a:r>
              <a:t>1602-23-733-065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72C"/>
        </a:solidFill>
        <a:effectLst/>
      </p:bgPr>
    </p:bg>
    <p:spTree>
      <p:nvGrpSpPr>
        <p:cNvPr id="1" name=""/>
        <p:cNvGrpSpPr/>
        <p:nvPr/>
      </p:nvGrpSpPr>
      <p:grpSpPr>
        <a:xfrm>
          <a:off x="0" y="0"/>
          <a:ext cx="0" cy="0"/>
          <a:chOff x="0" y="0"/>
          <a:chExt cx="0" cy="0"/>
        </a:xfrm>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2</a:t>
            </a:r>
          </a:p>
        </p:txBody>
      </p:sp>
      <p:sp>
        <p:nvSpPr>
          <p:cNvPr id="7" name="TextBox 6"/>
          <p:cNvSpPr txBox="1"/>
          <p:nvPr/>
        </p:nvSpPr>
        <p:spPr>
          <a:xfrm>
            <a:off x="914400" y="731520"/>
            <a:ext cx="9144000" cy="457200"/>
          </a:xfrm>
          <a:prstGeom prst="rect">
            <a:avLst/>
          </a:prstGeom>
          <a:noFill/>
        </p:spPr>
        <p:txBody>
          <a:bodyPr wrap="square">
            <a:spAutoFit/>
          </a:bodyPr>
          <a:lstStyle/>
          <a:p>
            <a:pPr algn="l">
              <a:defRPr sz="1200" b="1" i="0">
                <a:solidFill>
                  <a:srgbClr val="F6AD55"/>
                </a:solidFill>
                <a:latin typeface="Arial"/>
              </a:defRPr>
            </a:pPr>
            <a:r>
              <a:t>PROJECT DOMAIN</a:t>
            </a:r>
          </a:p>
        </p:txBody>
      </p:sp>
      <p:sp>
        <p:nvSpPr>
          <p:cNvPr id="8" name="TextBox 7"/>
          <p:cNvSpPr txBox="1"/>
          <p:nvPr/>
        </p:nvSpPr>
        <p:spPr>
          <a:xfrm>
            <a:off x="914400" y="1097280"/>
            <a:ext cx="10972800" cy="914400"/>
          </a:xfrm>
          <a:prstGeom prst="rect">
            <a:avLst/>
          </a:prstGeom>
          <a:noFill/>
        </p:spPr>
        <p:txBody>
          <a:bodyPr wrap="square">
            <a:spAutoFit/>
          </a:bodyPr>
          <a:lstStyle/>
          <a:p>
            <a:pPr algn="l">
              <a:defRPr sz="4000" b="1" i="0">
                <a:solidFill>
                  <a:srgbClr val="FFFFFF"/>
                </a:solidFill>
                <a:latin typeface="Arial"/>
              </a:defRPr>
            </a:pPr>
            <a:r>
              <a:t>Area</a:t>
            </a:r>
          </a:p>
        </p:txBody>
      </p:sp>
      <p:sp>
        <p:nvSpPr>
          <p:cNvPr id="9" name="Rounded Rectangle 8"/>
          <p:cNvSpPr/>
          <p:nvPr/>
        </p:nvSpPr>
        <p:spPr>
          <a:xfrm>
            <a:off x="914400" y="219456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i="0">
                <a:solidFill>
                  <a:srgbClr val="FFFFFF"/>
                </a:solidFill>
                <a:latin typeface="Arial"/>
              </a:defRPr>
            </a:pPr>
            <a:r>
              <a:t>Explainable Artificial Intelligence (XAI)</a:t>
            </a:r>
          </a:p>
        </p:txBody>
      </p:sp>
      <p:sp>
        <p:nvSpPr>
          <p:cNvPr id="10" name="Rounded Rectangle 9"/>
          <p:cNvSpPr/>
          <p:nvPr/>
        </p:nvSpPr>
        <p:spPr>
          <a:xfrm>
            <a:off x="914400" y="310896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i="0">
                <a:solidFill>
                  <a:srgbClr val="FFFFFF"/>
                </a:solidFill>
                <a:latin typeface="Arial"/>
              </a:defRPr>
            </a:pPr>
            <a:r>
              <a:t>Natural Language Processing (NLP)</a:t>
            </a:r>
          </a:p>
        </p:txBody>
      </p:sp>
      <p:sp>
        <p:nvSpPr>
          <p:cNvPr id="11" name="Rounded Rectangle 10"/>
          <p:cNvSpPr/>
          <p:nvPr/>
        </p:nvSpPr>
        <p:spPr>
          <a:xfrm>
            <a:off x="914400" y="402336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i="0">
                <a:solidFill>
                  <a:srgbClr val="FFFFFF"/>
                </a:solidFill>
                <a:latin typeface="Arial"/>
              </a:defRPr>
            </a:pPr>
            <a:r>
              <a:t>Retrieval-Augmented Generation (RAG)</a:t>
            </a:r>
          </a:p>
        </p:txBody>
      </p:sp>
      <p:sp>
        <p:nvSpPr>
          <p:cNvPr id="12" name="Rounded Rectangle 11"/>
          <p:cNvSpPr/>
          <p:nvPr/>
        </p:nvSpPr>
        <p:spPr>
          <a:xfrm>
            <a:off x="914400" y="493776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i="0">
                <a:solidFill>
                  <a:srgbClr val="FFFFFF"/>
                </a:solidFill>
                <a:latin typeface="Arial"/>
              </a:defRPr>
            </a:pPr>
            <a:r>
              <a:t>Large Language Models (LLMs)</a:t>
            </a:r>
          </a:p>
        </p:txBody>
      </p:sp>
      <p:sp>
        <p:nvSpPr>
          <p:cNvPr id="13" name="Rounded Rectangle 12"/>
          <p:cNvSpPr/>
          <p:nvPr/>
        </p:nvSpPr>
        <p:spPr>
          <a:xfrm>
            <a:off x="7315200" y="219456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i="0">
                <a:solidFill>
                  <a:srgbClr val="FFFFFF"/>
                </a:solidFill>
                <a:latin typeface="Arial"/>
              </a:defRPr>
            </a:pPr>
            <a:r>
              <a:t>Automated Fact-Checking</a:t>
            </a:r>
          </a:p>
        </p:txBody>
      </p:sp>
      <p:sp>
        <p:nvSpPr>
          <p:cNvPr id="14" name="Rounded Rectangle 13"/>
          <p:cNvSpPr/>
          <p:nvPr/>
        </p:nvSpPr>
        <p:spPr>
          <a:xfrm>
            <a:off x="7315200" y="310896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i="0">
                <a:solidFill>
                  <a:srgbClr val="FFFFFF"/>
                </a:solidFill>
                <a:latin typeface="Arial"/>
              </a:defRPr>
            </a:pPr>
            <a:r>
              <a:t>Evidence Attribution</a:t>
            </a:r>
          </a:p>
        </p:txBody>
      </p:sp>
      <p:sp>
        <p:nvSpPr>
          <p:cNvPr id="15" name="Rounded Rectangle 14"/>
          <p:cNvSpPr/>
          <p:nvPr/>
        </p:nvSpPr>
        <p:spPr>
          <a:xfrm>
            <a:off x="7315200" y="402336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i="0">
                <a:solidFill>
                  <a:srgbClr val="FFFFFF"/>
                </a:solidFill>
                <a:latin typeface="Arial"/>
              </a:defRPr>
            </a:pPr>
            <a:r>
              <a:t>Causal/Intervention Analysis</a:t>
            </a:r>
          </a:p>
        </p:txBody>
      </p:sp>
      <p:sp>
        <p:nvSpPr>
          <p:cNvPr id="16" name="Rounded Rectangle 15"/>
          <p:cNvSpPr/>
          <p:nvPr/>
        </p:nvSpPr>
        <p:spPr>
          <a:xfrm>
            <a:off x="7315200" y="493776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i="0">
                <a:solidFill>
                  <a:srgbClr val="FFFFFF"/>
                </a:solidFill>
                <a:latin typeface="Arial"/>
              </a:defRPr>
            </a:pPr>
            <a:r>
              <a:t>Fuzzy Logic</a:t>
            </a:r>
          </a:p>
        </p:txBody>
      </p:sp>
      <p:sp>
        <p:nvSpPr>
          <p:cNvPr id="17" name="TextBox 16"/>
          <p:cNvSpPr txBox="1"/>
          <p:nvPr/>
        </p:nvSpPr>
        <p:spPr>
          <a:xfrm>
            <a:off x="914400" y="6126480"/>
            <a:ext cx="12801600" cy="457200"/>
          </a:xfrm>
          <a:prstGeom prst="rect">
            <a:avLst/>
          </a:prstGeom>
          <a:noFill/>
        </p:spPr>
        <p:txBody>
          <a:bodyPr wrap="square">
            <a:spAutoFit/>
          </a:bodyPr>
          <a:lstStyle/>
          <a:p>
            <a:pPr algn="l">
              <a:defRPr sz="2000" b="1" i="0">
                <a:solidFill>
                  <a:srgbClr val="F6AD55"/>
                </a:solidFill>
                <a:latin typeface="Arial"/>
              </a:defRPr>
            </a:pPr>
            <a:r>
              <a:rPr dirty="0"/>
              <a:t>Research Focus</a:t>
            </a:r>
          </a:p>
        </p:txBody>
      </p:sp>
      <p:sp>
        <p:nvSpPr>
          <p:cNvPr id="18" name="TextBox 17"/>
          <p:cNvSpPr txBox="1"/>
          <p:nvPr/>
        </p:nvSpPr>
        <p:spPr>
          <a:xfrm>
            <a:off x="914400" y="6583680"/>
            <a:ext cx="12801600" cy="914400"/>
          </a:xfrm>
          <a:prstGeom prst="rect">
            <a:avLst/>
          </a:prstGeom>
          <a:noFill/>
        </p:spPr>
        <p:txBody>
          <a:bodyPr wrap="square">
            <a:spAutoFit/>
          </a:bodyPr>
          <a:lstStyle/>
          <a:p>
            <a:pPr algn="l">
              <a:defRPr sz="1800" b="0" i="0">
                <a:solidFill>
                  <a:srgbClr val="A0AEC0"/>
                </a:solidFill>
                <a:latin typeface="Arial"/>
              </a:defRPr>
            </a:pPr>
            <a:r>
              <a:rPr dirty="0"/>
              <a:t>Improving the faithfulness and reliability of evidence-level explanations in RAG-based fact-checking by combining post-hoc attribution, intervention-based influence testing, and fuzzy evidence reasoning.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72C"/>
        </a:solidFill>
        <a:effectLst/>
      </p:bgPr>
    </p:bg>
    <p:spTree>
      <p:nvGrpSpPr>
        <p:cNvPr id="1" name=""/>
        <p:cNvGrpSpPr/>
        <p:nvPr/>
      </p:nvGrpSpPr>
      <p:grpSpPr>
        <a:xfrm>
          <a:off x="0" y="0"/>
          <a:ext cx="0" cy="0"/>
          <a:chOff x="0" y="0"/>
          <a:chExt cx="0" cy="0"/>
        </a:xfrm>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3</a:t>
            </a:r>
          </a:p>
        </p:txBody>
      </p:sp>
      <p:sp>
        <p:nvSpPr>
          <p:cNvPr id="7" name="TextBox 6"/>
          <p:cNvSpPr txBox="1"/>
          <p:nvPr/>
        </p:nvSpPr>
        <p:spPr>
          <a:xfrm>
            <a:off x="914400" y="731520"/>
            <a:ext cx="9144000" cy="457200"/>
          </a:xfrm>
          <a:prstGeom prst="rect">
            <a:avLst/>
          </a:prstGeom>
          <a:noFill/>
        </p:spPr>
        <p:txBody>
          <a:bodyPr wrap="square">
            <a:spAutoFit/>
          </a:bodyPr>
          <a:lstStyle/>
          <a:p>
            <a:pPr algn="l">
              <a:defRPr sz="1200" b="1" i="0">
                <a:solidFill>
                  <a:srgbClr val="F6AD55"/>
                </a:solidFill>
                <a:latin typeface="Arial"/>
              </a:defRPr>
            </a:pPr>
            <a:r>
              <a:t>PROJECT SUMMARY</a:t>
            </a:r>
          </a:p>
        </p:txBody>
      </p:sp>
      <p:sp>
        <p:nvSpPr>
          <p:cNvPr id="8" name="TextBox 7"/>
          <p:cNvSpPr txBox="1"/>
          <p:nvPr/>
        </p:nvSpPr>
        <p:spPr>
          <a:xfrm>
            <a:off x="914400" y="1097280"/>
            <a:ext cx="10972800" cy="914400"/>
          </a:xfrm>
          <a:prstGeom prst="rect">
            <a:avLst/>
          </a:prstGeom>
          <a:noFill/>
        </p:spPr>
        <p:txBody>
          <a:bodyPr wrap="square">
            <a:spAutoFit/>
          </a:bodyPr>
          <a:lstStyle/>
          <a:p>
            <a:pPr algn="l">
              <a:defRPr sz="4000" b="1" i="0">
                <a:solidFill>
                  <a:srgbClr val="FFFFFF"/>
                </a:solidFill>
                <a:latin typeface="Arial"/>
              </a:defRPr>
            </a:pPr>
            <a:r>
              <a:t>Abstract</a:t>
            </a:r>
          </a:p>
        </p:txBody>
      </p:sp>
      <p:sp>
        <p:nvSpPr>
          <p:cNvPr id="9" name="TextBox 8"/>
          <p:cNvSpPr txBox="1"/>
          <p:nvPr/>
        </p:nvSpPr>
        <p:spPr>
          <a:xfrm>
            <a:off x="914400" y="1828800"/>
            <a:ext cx="8229600" cy="4572000"/>
          </a:xfrm>
          <a:prstGeom prst="rect">
            <a:avLst/>
          </a:prstGeom>
          <a:noFill/>
        </p:spPr>
        <p:txBody>
          <a:bodyPr wrap="square">
            <a:spAutoFit/>
          </a:bodyPr>
          <a:lstStyle/>
          <a:p>
            <a:pPr algn="l">
              <a:lnSpc>
                <a:spcPct val="130000"/>
              </a:lnSpc>
              <a:defRPr sz="1800" b="0" i="0">
                <a:solidFill>
                  <a:srgbClr val="FFFFFF"/>
                </a:solidFill>
                <a:latin typeface="Arial"/>
              </a:defRPr>
            </a:pPr>
            <a:r>
              <a:rPr dirty="0"/>
              <a:t>Automated fact-checking systems can determine whether a claim is supported, refuted, or uncertain, but explaining which evidence actually drives the decision remains challenging.</a:t>
            </a:r>
            <a:br>
              <a:rPr dirty="0"/>
            </a:br>
            <a:br>
              <a:rPr dirty="0"/>
            </a:br>
            <a:r>
              <a:rPr dirty="0"/>
              <a:t>The proposed project extends an IEEE study on evidence-level attribution using SHAP and LIME into an explainable RAG-based fact-checking pipeline. The system dynamically retrieves evidence using hybrid lexical and semantic search, verifies claims with a language model, estimates evidence attribution, and then performs intervention-based tests to determine whether influential evidence actually changes the decision.</a:t>
            </a:r>
            <a:br>
              <a:rPr dirty="0"/>
            </a:br>
            <a:br>
              <a:rPr dirty="0"/>
            </a:br>
            <a:r>
              <a:rPr dirty="0"/>
              <a:t>A fuzzy reasoning layer combines relevance, attribution, causal influence, contradiction, source reliability, and explanation stability into continuous evidence and reliability scores. The system also handles conflicting evidence and produces an auditable explanation containing the verdict, influential evidence, confidence, and explanation reliability.</a:t>
            </a:r>
          </a:p>
        </p:txBody>
      </p:sp>
      <p:sp>
        <p:nvSpPr>
          <p:cNvPr id="10" name="Rounded Rectangle 9"/>
          <p:cNvSpPr/>
          <p:nvPr/>
        </p:nvSpPr>
        <p:spPr>
          <a:xfrm>
            <a:off x="10515600" y="201168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i="0">
                <a:solidFill>
                  <a:srgbClr val="4FD1C5"/>
                </a:solidFill>
                <a:latin typeface="Arial"/>
              </a:defRPr>
            </a:pPr>
            <a:r>
              <a:t>Claim</a:t>
            </a:r>
          </a:p>
        </p:txBody>
      </p:sp>
      <p:sp>
        <p:nvSpPr>
          <p:cNvPr id="11" name="Down Arrow 10"/>
          <p:cNvSpPr/>
          <p:nvPr/>
        </p:nvSpPr>
        <p:spPr>
          <a:xfrm>
            <a:off x="12024360" y="251460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0515600" y="278892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i="0">
                <a:solidFill>
                  <a:srgbClr val="4FD1C5"/>
                </a:solidFill>
                <a:latin typeface="Arial"/>
              </a:defRPr>
            </a:pPr>
            <a:r>
              <a:t>Retrieve Evidence</a:t>
            </a:r>
          </a:p>
        </p:txBody>
      </p:sp>
      <p:sp>
        <p:nvSpPr>
          <p:cNvPr id="13" name="Down Arrow 12"/>
          <p:cNvSpPr/>
          <p:nvPr/>
        </p:nvSpPr>
        <p:spPr>
          <a:xfrm>
            <a:off x="12024360" y="329184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515600" y="356616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i="0">
                <a:solidFill>
                  <a:srgbClr val="4FD1C5"/>
                </a:solidFill>
                <a:latin typeface="Arial"/>
              </a:defRPr>
            </a:pPr>
            <a:r>
              <a:t>Verify</a:t>
            </a:r>
          </a:p>
        </p:txBody>
      </p:sp>
      <p:sp>
        <p:nvSpPr>
          <p:cNvPr id="15" name="Down Arrow 14"/>
          <p:cNvSpPr/>
          <p:nvPr/>
        </p:nvSpPr>
        <p:spPr>
          <a:xfrm>
            <a:off x="12024360" y="406908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515600" y="434340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i="0">
                <a:solidFill>
                  <a:srgbClr val="4FD1C5"/>
                </a:solidFill>
                <a:latin typeface="Arial"/>
              </a:defRPr>
            </a:pPr>
            <a:r>
              <a:t>Attribute</a:t>
            </a:r>
          </a:p>
        </p:txBody>
      </p:sp>
      <p:sp>
        <p:nvSpPr>
          <p:cNvPr id="17" name="Down Arrow 16"/>
          <p:cNvSpPr/>
          <p:nvPr/>
        </p:nvSpPr>
        <p:spPr>
          <a:xfrm>
            <a:off x="12024360" y="484632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515600" y="512064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i="0">
                <a:solidFill>
                  <a:srgbClr val="4FD1C5"/>
                </a:solidFill>
                <a:latin typeface="Arial"/>
              </a:defRPr>
            </a:pPr>
            <a:r>
              <a:t>Intervene</a:t>
            </a:r>
          </a:p>
        </p:txBody>
      </p:sp>
      <p:sp>
        <p:nvSpPr>
          <p:cNvPr id="19" name="Down Arrow 18"/>
          <p:cNvSpPr/>
          <p:nvPr/>
        </p:nvSpPr>
        <p:spPr>
          <a:xfrm>
            <a:off x="12024360" y="562356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515600" y="589788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i="0">
                <a:solidFill>
                  <a:srgbClr val="4FD1C5"/>
                </a:solidFill>
                <a:latin typeface="Arial"/>
              </a:defRPr>
            </a:pPr>
            <a:r>
              <a:t>Fuzzy Reasoning</a:t>
            </a:r>
          </a:p>
        </p:txBody>
      </p:sp>
      <p:sp>
        <p:nvSpPr>
          <p:cNvPr id="21" name="Down Arrow 20"/>
          <p:cNvSpPr/>
          <p:nvPr/>
        </p:nvSpPr>
        <p:spPr>
          <a:xfrm>
            <a:off x="12024360" y="640080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515600" y="667512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i="0">
                <a:solidFill>
                  <a:srgbClr val="4FD1C5"/>
                </a:solidFill>
                <a:latin typeface="Arial"/>
              </a:defRPr>
            </a:pPr>
            <a:r>
              <a:t>Reliable Explanation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72C"/>
        </a:solidFill>
        <a:effectLst/>
      </p:bgPr>
    </p:bg>
    <p:spTree>
      <p:nvGrpSpPr>
        <p:cNvPr id="1" name=""/>
        <p:cNvGrpSpPr/>
        <p:nvPr/>
      </p:nvGrpSpPr>
      <p:grpSpPr>
        <a:xfrm>
          <a:off x="0" y="0"/>
          <a:ext cx="0" cy="0"/>
          <a:chOff x="0" y="0"/>
          <a:chExt cx="0" cy="0"/>
        </a:xfrm>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4</a:t>
            </a:r>
          </a:p>
        </p:txBody>
      </p:sp>
      <p:sp>
        <p:nvSpPr>
          <p:cNvPr id="7" name="TextBox 6"/>
          <p:cNvSpPr txBox="1"/>
          <p:nvPr/>
        </p:nvSpPr>
        <p:spPr>
          <a:xfrm>
            <a:off x="914400" y="731520"/>
            <a:ext cx="9144000" cy="457200"/>
          </a:xfrm>
          <a:prstGeom prst="rect">
            <a:avLst/>
          </a:prstGeom>
          <a:noFill/>
        </p:spPr>
        <p:txBody>
          <a:bodyPr wrap="square">
            <a:spAutoFit/>
          </a:bodyPr>
          <a:lstStyle/>
          <a:p>
            <a:pPr algn="l">
              <a:defRPr sz="1200" b="1" i="0">
                <a:solidFill>
                  <a:srgbClr val="F6AD55"/>
                </a:solidFill>
                <a:latin typeface="Arial"/>
              </a:defRPr>
            </a:pPr>
            <a:r>
              <a:t>MOTIVATION</a:t>
            </a:r>
          </a:p>
        </p:txBody>
      </p:sp>
      <p:sp>
        <p:nvSpPr>
          <p:cNvPr id="8" name="TextBox 7"/>
          <p:cNvSpPr txBox="1"/>
          <p:nvPr/>
        </p:nvSpPr>
        <p:spPr>
          <a:xfrm>
            <a:off x="914400" y="1097280"/>
            <a:ext cx="10972800" cy="914400"/>
          </a:xfrm>
          <a:prstGeom prst="rect">
            <a:avLst/>
          </a:prstGeom>
          <a:noFill/>
        </p:spPr>
        <p:txBody>
          <a:bodyPr wrap="square">
            <a:spAutoFit/>
          </a:bodyPr>
          <a:lstStyle/>
          <a:p>
            <a:pPr algn="l">
              <a:defRPr sz="4000" b="1" i="0">
                <a:solidFill>
                  <a:srgbClr val="FFFFFF"/>
                </a:solidFill>
                <a:latin typeface="Arial"/>
              </a:defRPr>
            </a:pPr>
            <a:r>
              <a:t>Problem Description</a:t>
            </a:r>
          </a:p>
        </p:txBody>
      </p:sp>
      <p:sp>
        <p:nvSpPr>
          <p:cNvPr id="9" name="TextBox 8"/>
          <p:cNvSpPr txBox="1"/>
          <p:nvPr/>
        </p:nvSpPr>
        <p:spPr>
          <a:xfrm>
            <a:off x="914400" y="1962001"/>
            <a:ext cx="12801600" cy="457200"/>
          </a:xfrm>
          <a:prstGeom prst="rect">
            <a:avLst/>
          </a:prstGeom>
          <a:noFill/>
        </p:spPr>
        <p:txBody>
          <a:bodyPr wrap="square">
            <a:spAutoFit/>
          </a:bodyPr>
          <a:lstStyle/>
          <a:p>
            <a:pPr algn="l">
              <a:defRPr sz="2200" b="1" i="0">
                <a:solidFill>
                  <a:srgbClr val="F6AD55"/>
                </a:solidFill>
                <a:latin typeface="Arial"/>
              </a:defRPr>
            </a:pPr>
            <a:r>
              <a:rPr dirty="0"/>
              <a:t>Existing Problem</a:t>
            </a:r>
          </a:p>
        </p:txBody>
      </p:sp>
      <p:sp>
        <p:nvSpPr>
          <p:cNvPr id="10" name="TextBox 9"/>
          <p:cNvSpPr txBox="1"/>
          <p:nvPr/>
        </p:nvSpPr>
        <p:spPr>
          <a:xfrm>
            <a:off x="914400" y="2369522"/>
            <a:ext cx="12801600" cy="2000548"/>
          </a:xfrm>
          <a:prstGeom prst="rect">
            <a:avLst/>
          </a:prstGeom>
          <a:noFill/>
        </p:spPr>
        <p:txBody>
          <a:bodyPr wrap="square">
            <a:spAutoFit/>
          </a:bodyPr>
          <a:lstStyle/>
          <a:p>
            <a:pPr algn="l">
              <a:defRPr sz="1800" b="0" i="0">
                <a:solidFill>
                  <a:srgbClr val="FFFFFF"/>
                </a:solidFill>
                <a:latin typeface="Arial"/>
              </a:defRPr>
            </a:pPr>
            <a:r>
              <a:rPr dirty="0"/>
              <a:t>Current systems may correctly predict a claim label but do not establish WHY particular evidence influenced the decision. SHAP/LIME provide attribution, but:</a:t>
            </a:r>
          </a:p>
          <a:p>
            <a:pPr>
              <a:lnSpc>
                <a:spcPct val="150000"/>
              </a:lnSpc>
              <a:defRPr sz="1600">
                <a:solidFill>
                  <a:srgbClr val="A0AEC0"/>
                </a:solidFill>
                <a:latin typeface="Arial"/>
              </a:defRPr>
            </a:pPr>
            <a:r>
              <a:rPr dirty="0"/>
              <a:t>• Attribution may reflect correlation, not causal influence.</a:t>
            </a:r>
          </a:p>
          <a:p>
            <a:pPr>
              <a:defRPr sz="1600">
                <a:solidFill>
                  <a:srgbClr val="A0AEC0"/>
                </a:solidFill>
                <a:latin typeface="Arial"/>
              </a:defRPr>
            </a:pPr>
            <a:r>
              <a:rPr dirty="0"/>
              <a:t>• Evidence is often simplified into binary Useful/Noise.</a:t>
            </a:r>
          </a:p>
          <a:p>
            <a:pPr>
              <a:defRPr sz="1600">
                <a:solidFill>
                  <a:srgbClr val="A0AEC0"/>
                </a:solidFill>
                <a:latin typeface="Arial"/>
              </a:defRPr>
            </a:pPr>
            <a:r>
              <a:rPr dirty="0"/>
              <a:t>• Conflicting evidence is difficult to represent.</a:t>
            </a:r>
          </a:p>
          <a:p>
            <a:pPr>
              <a:defRPr sz="1600">
                <a:solidFill>
                  <a:srgbClr val="A0AEC0"/>
                </a:solidFill>
                <a:latin typeface="Arial"/>
              </a:defRPr>
            </a:pPr>
            <a:r>
              <a:rPr dirty="0"/>
              <a:t>• Explanation stability and reliability require stronger analysis.</a:t>
            </a:r>
          </a:p>
          <a:p>
            <a:pPr>
              <a:defRPr sz="1600">
                <a:solidFill>
                  <a:srgbClr val="A0AEC0"/>
                </a:solidFill>
                <a:latin typeface="Arial"/>
              </a:defRPr>
            </a:pPr>
            <a:r>
              <a:rPr dirty="0"/>
              <a:t>• Verifiers may rely on model priors rather than retrieved evidence.</a:t>
            </a:r>
          </a:p>
        </p:txBody>
      </p:sp>
      <p:graphicFrame>
        <p:nvGraphicFramePr>
          <p:cNvPr id="11" name="Table 10"/>
          <p:cNvGraphicFramePr>
            <a:graphicFrameLocks noGrp="1"/>
          </p:cNvGraphicFramePr>
          <p:nvPr>
            <p:extLst>
              <p:ext uri="{D42A27DB-BD31-4B8C-83A1-F6EECF244321}">
                <p14:modId xmlns:p14="http://schemas.microsoft.com/office/powerpoint/2010/main" val="1648078034"/>
              </p:ext>
            </p:extLst>
          </p:nvPr>
        </p:nvGraphicFramePr>
        <p:xfrm>
          <a:off x="914400" y="4526280"/>
          <a:ext cx="12801600" cy="292608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418011">
                <a:tc>
                  <a:txBody>
                    <a:bodyPr/>
                    <a:lstStyle/>
                    <a:p>
                      <a:pPr>
                        <a:defRPr sz="1600" b="1">
                          <a:solidFill>
                            <a:srgbClr val="FFFFFF"/>
                          </a:solidFill>
                        </a:defRPr>
                      </a:pPr>
                      <a:r>
                        <a:rPr baseline="0">
                          <a:solidFill>
                            <a:schemeClr val="bg1"/>
                          </a:solidFill>
                        </a:rPr>
                        <a:t>Research Gap (IEEE Paper limitations)</a:t>
                      </a:r>
                    </a:p>
                  </a:txBody>
                  <a:tcPr>
                    <a:solidFill>
                      <a:srgbClr val="1C3E6B"/>
                    </a:solidFill>
                  </a:tcPr>
                </a:tc>
                <a:tc>
                  <a:txBody>
                    <a:bodyPr/>
                    <a:lstStyle/>
                    <a:p>
                      <a:pPr>
                        <a:defRPr sz="1600" b="1">
                          <a:solidFill>
                            <a:srgbClr val="FFFFFF"/>
                          </a:solidFill>
                        </a:defRPr>
                      </a:pPr>
                      <a:r>
                        <a:rPr baseline="0">
                          <a:solidFill>
                            <a:schemeClr val="bg1"/>
                          </a:solidFill>
                        </a:rPr>
                        <a:t>Proposed Response (Our Extension)</a:t>
                      </a:r>
                    </a:p>
                  </a:txBody>
                  <a:tcPr>
                    <a:solidFill>
                      <a:srgbClr val="1C3E6B"/>
                    </a:solidFill>
                  </a:tcPr>
                </a:tc>
                <a:extLst>
                  <a:ext uri="{0D108BD9-81ED-4DB2-BD59-A6C34878D82A}">
                    <a16:rowId xmlns:a16="http://schemas.microsoft.com/office/drawing/2014/main" val="10000"/>
                  </a:ext>
                </a:extLst>
              </a:tr>
              <a:tr h="418011">
                <a:tc>
                  <a:txBody>
                    <a:bodyPr/>
                    <a:lstStyle/>
                    <a:p>
                      <a:pPr>
                        <a:defRPr sz="1400">
                          <a:solidFill>
                            <a:srgbClr val="A0AEC0"/>
                          </a:solidFill>
                        </a:defRPr>
                      </a:pPr>
                      <a:r>
                        <a:rPr baseline="0" dirty="0">
                          <a:solidFill>
                            <a:schemeClr val="bg1"/>
                          </a:solidFill>
                        </a:rPr>
                        <a:t>Attribution ≠ causal influence</a:t>
                      </a:r>
                    </a:p>
                  </a:txBody>
                  <a:tcPr>
                    <a:solidFill>
                      <a:srgbClr val="19345E"/>
                    </a:solidFill>
                  </a:tcPr>
                </a:tc>
                <a:tc>
                  <a:txBody>
                    <a:bodyPr/>
                    <a:lstStyle/>
                    <a:p>
                      <a:pPr>
                        <a:defRPr sz="1400">
                          <a:solidFill>
                            <a:srgbClr val="A0AEC0"/>
                          </a:solidFill>
                        </a:defRPr>
                      </a:pPr>
                      <a:r>
                        <a:rPr baseline="0">
                          <a:solidFill>
                            <a:schemeClr val="bg1"/>
                          </a:solidFill>
                        </a:rPr>
                        <a:t>Evidence intervention/removal testing</a:t>
                      </a:r>
                    </a:p>
                  </a:txBody>
                  <a:tcPr>
                    <a:solidFill>
                      <a:srgbClr val="19345E"/>
                    </a:solidFill>
                  </a:tcPr>
                </a:tc>
                <a:extLst>
                  <a:ext uri="{0D108BD9-81ED-4DB2-BD59-A6C34878D82A}">
                    <a16:rowId xmlns:a16="http://schemas.microsoft.com/office/drawing/2014/main" val="10001"/>
                  </a:ext>
                </a:extLst>
              </a:tr>
              <a:tr h="418011">
                <a:tc>
                  <a:txBody>
                    <a:bodyPr/>
                    <a:lstStyle/>
                    <a:p>
                      <a:pPr>
                        <a:defRPr sz="1400">
                          <a:solidFill>
                            <a:srgbClr val="A0AEC0"/>
                          </a:solidFill>
                        </a:defRPr>
                      </a:pPr>
                      <a:r>
                        <a:rPr baseline="0" dirty="0">
                          <a:solidFill>
                            <a:schemeClr val="bg1"/>
                          </a:solidFill>
                        </a:rPr>
                        <a:t>Binary Useful/Noise</a:t>
                      </a:r>
                    </a:p>
                  </a:txBody>
                  <a:tcPr>
                    <a:solidFill>
                      <a:srgbClr val="19345E"/>
                    </a:solidFill>
                  </a:tcPr>
                </a:tc>
                <a:tc>
                  <a:txBody>
                    <a:bodyPr/>
                    <a:lstStyle/>
                    <a:p>
                      <a:pPr>
                        <a:defRPr sz="1400">
                          <a:solidFill>
                            <a:srgbClr val="A0AEC0"/>
                          </a:solidFill>
                        </a:defRPr>
                      </a:pPr>
                      <a:r>
                        <a:rPr baseline="0">
                          <a:solidFill>
                            <a:schemeClr val="bg1"/>
                          </a:solidFill>
                        </a:rPr>
                        <a:t>Fuzzy evidence degrees (relevance, support, contradiction)</a:t>
                      </a:r>
                    </a:p>
                  </a:txBody>
                  <a:tcPr>
                    <a:solidFill>
                      <a:srgbClr val="19345E"/>
                    </a:solidFill>
                  </a:tcPr>
                </a:tc>
                <a:extLst>
                  <a:ext uri="{0D108BD9-81ED-4DB2-BD59-A6C34878D82A}">
                    <a16:rowId xmlns:a16="http://schemas.microsoft.com/office/drawing/2014/main" val="10002"/>
                  </a:ext>
                </a:extLst>
              </a:tr>
              <a:tr h="418011">
                <a:tc>
                  <a:txBody>
                    <a:bodyPr/>
                    <a:lstStyle/>
                    <a:p>
                      <a:pPr>
                        <a:defRPr sz="1400">
                          <a:solidFill>
                            <a:srgbClr val="A0AEC0"/>
                          </a:solidFill>
                        </a:defRPr>
                      </a:pPr>
                      <a:r>
                        <a:rPr baseline="0">
                          <a:solidFill>
                            <a:schemeClr val="bg1"/>
                          </a:solidFill>
                        </a:rPr>
                        <a:t>Mixed/conflicting evidence</a:t>
                      </a:r>
                    </a:p>
                  </a:txBody>
                  <a:tcPr>
                    <a:solidFill>
                      <a:srgbClr val="19345E"/>
                    </a:solidFill>
                  </a:tcPr>
                </a:tc>
                <a:tc>
                  <a:txBody>
                    <a:bodyPr/>
                    <a:lstStyle/>
                    <a:p>
                      <a:pPr>
                        <a:defRPr sz="1400">
                          <a:solidFill>
                            <a:srgbClr val="A0AEC0"/>
                          </a:solidFill>
                        </a:defRPr>
                      </a:pPr>
                      <a:r>
                        <a:rPr baseline="0">
                          <a:solidFill>
                            <a:schemeClr val="bg1"/>
                          </a:solidFill>
                        </a:rPr>
                        <a:t>Explicit conflict detection</a:t>
                      </a:r>
                    </a:p>
                  </a:txBody>
                  <a:tcPr>
                    <a:solidFill>
                      <a:srgbClr val="19345E"/>
                    </a:solidFill>
                  </a:tcPr>
                </a:tc>
                <a:extLst>
                  <a:ext uri="{0D108BD9-81ED-4DB2-BD59-A6C34878D82A}">
                    <a16:rowId xmlns:a16="http://schemas.microsoft.com/office/drawing/2014/main" val="10003"/>
                  </a:ext>
                </a:extLst>
              </a:tr>
              <a:tr h="418011">
                <a:tc>
                  <a:txBody>
                    <a:bodyPr/>
                    <a:lstStyle/>
                    <a:p>
                      <a:pPr>
                        <a:defRPr sz="1400">
                          <a:solidFill>
                            <a:srgbClr val="A0AEC0"/>
                          </a:solidFill>
                        </a:defRPr>
                      </a:pPr>
                      <a:r>
                        <a:rPr baseline="0">
                          <a:solidFill>
                            <a:schemeClr val="bg1"/>
                          </a:solidFill>
                        </a:rPr>
                        <a:t>Unstable explanations</a:t>
                      </a:r>
                    </a:p>
                  </a:txBody>
                  <a:tcPr>
                    <a:solidFill>
                      <a:srgbClr val="19345E"/>
                    </a:solidFill>
                  </a:tcPr>
                </a:tc>
                <a:tc>
                  <a:txBody>
                    <a:bodyPr/>
                    <a:lstStyle/>
                    <a:p>
                      <a:pPr>
                        <a:defRPr sz="1400">
                          <a:solidFill>
                            <a:srgbClr val="A0AEC0"/>
                          </a:solidFill>
                        </a:defRPr>
                      </a:pPr>
                      <a:r>
                        <a:rPr baseline="0">
                          <a:solidFill>
                            <a:schemeClr val="bg1"/>
                          </a:solidFill>
                        </a:rPr>
                        <a:t>Explanation stability analysis</a:t>
                      </a:r>
                    </a:p>
                  </a:txBody>
                  <a:tcPr>
                    <a:solidFill>
                      <a:srgbClr val="19345E"/>
                    </a:solidFill>
                  </a:tcPr>
                </a:tc>
                <a:extLst>
                  <a:ext uri="{0D108BD9-81ED-4DB2-BD59-A6C34878D82A}">
                    <a16:rowId xmlns:a16="http://schemas.microsoft.com/office/drawing/2014/main" val="10004"/>
                  </a:ext>
                </a:extLst>
              </a:tr>
              <a:tr h="418011">
                <a:tc>
                  <a:txBody>
                    <a:bodyPr/>
                    <a:lstStyle/>
                    <a:p>
                      <a:pPr>
                        <a:defRPr sz="1400">
                          <a:solidFill>
                            <a:srgbClr val="A0AEC0"/>
                          </a:solidFill>
                        </a:defRPr>
                      </a:pPr>
                      <a:r>
                        <a:rPr baseline="0">
                          <a:solidFill>
                            <a:schemeClr val="bg1"/>
                          </a:solidFill>
                        </a:rPr>
                        <a:t>Weak uncertainty/reliability analysis</a:t>
                      </a:r>
                    </a:p>
                  </a:txBody>
                  <a:tcPr>
                    <a:solidFill>
                      <a:srgbClr val="19345E"/>
                    </a:solidFill>
                  </a:tcPr>
                </a:tc>
                <a:tc>
                  <a:txBody>
                    <a:bodyPr/>
                    <a:lstStyle/>
                    <a:p>
                      <a:pPr>
                        <a:defRPr sz="1400">
                          <a:solidFill>
                            <a:srgbClr val="A0AEC0"/>
                          </a:solidFill>
                        </a:defRPr>
                      </a:pPr>
                      <a:r>
                        <a:rPr baseline="0">
                          <a:solidFill>
                            <a:schemeClr val="bg1"/>
                          </a:solidFill>
                        </a:rPr>
                        <a:t>Reliability and confidence scoring</a:t>
                      </a:r>
                    </a:p>
                  </a:txBody>
                  <a:tcPr>
                    <a:solidFill>
                      <a:srgbClr val="19345E"/>
                    </a:solidFill>
                  </a:tcPr>
                </a:tc>
                <a:extLst>
                  <a:ext uri="{0D108BD9-81ED-4DB2-BD59-A6C34878D82A}">
                    <a16:rowId xmlns:a16="http://schemas.microsoft.com/office/drawing/2014/main" val="10005"/>
                  </a:ext>
                </a:extLst>
              </a:tr>
              <a:tr h="418014">
                <a:tc>
                  <a:txBody>
                    <a:bodyPr/>
                    <a:lstStyle/>
                    <a:p>
                      <a:pPr>
                        <a:defRPr sz="1400">
                          <a:solidFill>
                            <a:srgbClr val="A0AEC0"/>
                          </a:solidFill>
                        </a:defRPr>
                      </a:pPr>
                      <a:r>
                        <a:rPr baseline="0">
                          <a:solidFill>
                            <a:schemeClr val="bg1"/>
                          </a:solidFill>
                        </a:rPr>
                        <a:t>Potential reliance on model priors</a:t>
                      </a:r>
                    </a:p>
                  </a:txBody>
                  <a:tcPr>
                    <a:solidFill>
                      <a:srgbClr val="19345E"/>
                    </a:solidFill>
                  </a:tcPr>
                </a:tc>
                <a:tc>
                  <a:txBody>
                    <a:bodyPr/>
                    <a:lstStyle/>
                    <a:p>
                      <a:pPr>
                        <a:defRPr sz="1400">
                          <a:solidFill>
                            <a:srgbClr val="A0AEC0"/>
                          </a:solidFill>
                        </a:defRPr>
                      </a:pPr>
                      <a:r>
                        <a:rPr baseline="0" dirty="0">
                          <a:solidFill>
                            <a:schemeClr val="bg1"/>
                          </a:solidFill>
                        </a:rPr>
                        <a:t>Compare attribution with intervention effects</a:t>
                      </a:r>
                    </a:p>
                  </a:txBody>
                  <a:tcPr>
                    <a:solidFill>
                      <a:srgbClr val="19345E"/>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72C"/>
        </a:solidFill>
        <a:effectLst/>
      </p:bgPr>
    </p:bg>
    <p:spTree>
      <p:nvGrpSpPr>
        <p:cNvPr id="1" name=""/>
        <p:cNvGrpSpPr/>
        <p:nvPr/>
      </p:nvGrpSpPr>
      <p:grpSpPr>
        <a:xfrm>
          <a:off x="0" y="0"/>
          <a:ext cx="0" cy="0"/>
          <a:chOff x="0" y="0"/>
          <a:chExt cx="0" cy="0"/>
        </a:xfrm>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5</a:t>
            </a:r>
          </a:p>
        </p:txBody>
      </p:sp>
      <p:sp>
        <p:nvSpPr>
          <p:cNvPr id="7" name="TextBox 6"/>
          <p:cNvSpPr txBox="1"/>
          <p:nvPr/>
        </p:nvSpPr>
        <p:spPr>
          <a:xfrm>
            <a:off x="914400" y="731520"/>
            <a:ext cx="9144000" cy="457200"/>
          </a:xfrm>
          <a:prstGeom prst="rect">
            <a:avLst/>
          </a:prstGeom>
          <a:noFill/>
        </p:spPr>
        <p:txBody>
          <a:bodyPr wrap="square">
            <a:spAutoFit/>
          </a:bodyPr>
          <a:lstStyle/>
          <a:p>
            <a:pPr algn="l">
              <a:defRPr sz="1200" b="1" i="0">
                <a:solidFill>
                  <a:srgbClr val="F6AD55"/>
                </a:solidFill>
                <a:latin typeface="Arial"/>
              </a:defRPr>
            </a:pPr>
            <a:r>
              <a:t>SYSTEM ARCHITECTURE</a:t>
            </a:r>
          </a:p>
        </p:txBody>
      </p:sp>
      <p:sp>
        <p:nvSpPr>
          <p:cNvPr id="8" name="TextBox 7"/>
          <p:cNvSpPr txBox="1"/>
          <p:nvPr/>
        </p:nvSpPr>
        <p:spPr>
          <a:xfrm>
            <a:off x="914400" y="1097280"/>
            <a:ext cx="10972800" cy="914400"/>
          </a:xfrm>
          <a:prstGeom prst="rect">
            <a:avLst/>
          </a:prstGeom>
          <a:noFill/>
        </p:spPr>
        <p:txBody>
          <a:bodyPr wrap="square">
            <a:spAutoFit/>
          </a:bodyPr>
          <a:lstStyle/>
          <a:p>
            <a:pPr algn="l">
              <a:defRPr sz="4000" b="1" i="0">
                <a:solidFill>
                  <a:srgbClr val="FFFFFF"/>
                </a:solidFill>
                <a:latin typeface="Arial"/>
              </a:defRPr>
            </a:pPr>
            <a:r>
              <a:t>Methodology</a:t>
            </a:r>
          </a:p>
        </p:txBody>
      </p:sp>
      <p:sp>
        <p:nvSpPr>
          <p:cNvPr id="9" name="Rounded Rectangle 8"/>
          <p:cNvSpPr/>
          <p:nvPr/>
        </p:nvSpPr>
        <p:spPr>
          <a:xfrm>
            <a:off x="914400" y="246888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USER CLAIM</a:t>
            </a:r>
          </a:p>
          <a:p>
            <a:pPr algn="ctr">
              <a:defRPr sz="1100">
                <a:solidFill>
                  <a:srgbClr val="4FD1C5"/>
                </a:solidFill>
                <a:latin typeface="Arial"/>
              </a:defRPr>
            </a:pPr>
            <a:r>
              <a:t>Natural-language claim</a:t>
            </a:r>
          </a:p>
        </p:txBody>
      </p:sp>
      <p:sp>
        <p:nvSpPr>
          <p:cNvPr id="10" name="Rounded Rectangle 9"/>
          <p:cNvSpPr/>
          <p:nvPr/>
        </p:nvSpPr>
        <p:spPr>
          <a:xfrm>
            <a:off x="4114800" y="246888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HYBRID RAG RETRIEVAL</a:t>
            </a:r>
          </a:p>
          <a:p>
            <a:pPr algn="ctr">
              <a:defRPr sz="1100">
                <a:solidFill>
                  <a:srgbClr val="4FD1C5"/>
                </a:solidFill>
                <a:latin typeface="Arial"/>
              </a:defRPr>
            </a:pPr>
            <a:r>
              <a:t>BM25 + Embedding Search</a:t>
            </a:r>
          </a:p>
        </p:txBody>
      </p:sp>
      <p:sp>
        <p:nvSpPr>
          <p:cNvPr id="11" name="Rounded Rectangle 10"/>
          <p:cNvSpPr/>
          <p:nvPr/>
        </p:nvSpPr>
        <p:spPr>
          <a:xfrm>
            <a:off x="7772400" y="246888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TOP-K EVIDENCE</a:t>
            </a:r>
          </a:p>
          <a:p>
            <a:pPr algn="ctr">
              <a:defRPr sz="1100">
                <a:solidFill>
                  <a:srgbClr val="4FD1C5"/>
                </a:solidFill>
                <a:latin typeface="Arial"/>
              </a:defRPr>
            </a:pPr>
            <a:r>
              <a:t>Relevance + Source Metadata</a:t>
            </a:r>
          </a:p>
        </p:txBody>
      </p:sp>
      <p:sp>
        <p:nvSpPr>
          <p:cNvPr id="12" name="Rounded Rectangle 11"/>
          <p:cNvSpPr/>
          <p:nvPr/>
        </p:nvSpPr>
        <p:spPr>
          <a:xfrm>
            <a:off x="10972800" y="2468880"/>
            <a:ext cx="320040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VERIFICATION LLM</a:t>
            </a:r>
          </a:p>
          <a:p>
            <a:pPr algn="ctr">
              <a:defRPr sz="1100">
                <a:solidFill>
                  <a:srgbClr val="4FD1C5"/>
                </a:solidFill>
                <a:latin typeface="Arial"/>
              </a:defRPr>
            </a:pPr>
            <a:r>
              <a:t>Supports / Refutes / Not Enough Information</a:t>
            </a:r>
          </a:p>
        </p:txBody>
      </p:sp>
      <p:sp>
        <p:nvSpPr>
          <p:cNvPr id="13" name="Rounded Rectangle 12"/>
          <p:cNvSpPr/>
          <p:nvPr/>
        </p:nvSpPr>
        <p:spPr>
          <a:xfrm>
            <a:off x="10972800" y="4297680"/>
            <a:ext cx="320040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SHAP + LIME</a:t>
            </a:r>
          </a:p>
          <a:p>
            <a:pPr algn="ctr">
              <a:defRPr sz="1100">
                <a:solidFill>
                  <a:srgbClr val="4FD1C5"/>
                </a:solidFill>
                <a:latin typeface="Arial"/>
              </a:defRPr>
            </a:pPr>
            <a:r>
              <a:t>Evidence Attribution</a:t>
            </a:r>
          </a:p>
        </p:txBody>
      </p:sp>
      <p:sp>
        <p:nvSpPr>
          <p:cNvPr id="14" name="Rounded Rectangle 13"/>
          <p:cNvSpPr/>
          <p:nvPr/>
        </p:nvSpPr>
        <p:spPr>
          <a:xfrm>
            <a:off x="7772400" y="429768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CAUSAL INTERVENTION</a:t>
            </a:r>
          </a:p>
          <a:p>
            <a:pPr algn="ctr">
              <a:defRPr sz="1100">
                <a:solidFill>
                  <a:srgbClr val="4FD1C5"/>
                </a:solidFill>
                <a:latin typeface="Arial"/>
              </a:defRPr>
            </a:pPr>
            <a:r>
              <a:t>Remove / Combine Evidence</a:t>
            </a:r>
            <a:br/>
            <a:r>
              <a:t>Measure Decision Change</a:t>
            </a:r>
          </a:p>
        </p:txBody>
      </p:sp>
      <p:sp>
        <p:nvSpPr>
          <p:cNvPr id="15" name="Rounded Rectangle 14"/>
          <p:cNvSpPr/>
          <p:nvPr/>
        </p:nvSpPr>
        <p:spPr>
          <a:xfrm>
            <a:off x="4114800" y="429768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FUZZY REASONING</a:t>
            </a:r>
          </a:p>
          <a:p>
            <a:pPr algn="ctr">
              <a:defRPr sz="1100">
                <a:solidFill>
                  <a:srgbClr val="4FD1C5"/>
                </a:solidFill>
                <a:latin typeface="Arial"/>
              </a:defRPr>
            </a:pPr>
            <a:r>
              <a:t>Relevance, Support, Contradiction,</a:t>
            </a:r>
            <a:br/>
            <a:r>
              <a:t>Causal Influence, Source Reliability</a:t>
            </a:r>
          </a:p>
        </p:txBody>
      </p:sp>
      <p:sp>
        <p:nvSpPr>
          <p:cNvPr id="16" name="Rounded Rectangle 15"/>
          <p:cNvSpPr/>
          <p:nvPr/>
        </p:nvSpPr>
        <p:spPr>
          <a:xfrm>
            <a:off x="914400" y="429768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CONFLICT DETECTION</a:t>
            </a:r>
            <a:br/>
            <a:r>
              <a:t>+ STABILITY ANALYSIS</a:t>
            </a:r>
          </a:p>
          <a:p>
            <a:pPr algn="ctr">
              <a:defRPr sz="1100">
                <a:solidFill>
                  <a:srgbClr val="4FD1C5"/>
                </a:solidFill>
                <a:latin typeface="Arial"/>
              </a:defRPr>
            </a:pPr>
            <a:r>
              <a:t>Handle conflicting sources</a:t>
            </a:r>
          </a:p>
        </p:txBody>
      </p:sp>
      <p:sp>
        <p:nvSpPr>
          <p:cNvPr id="17" name="Rounded Rectangle 16"/>
          <p:cNvSpPr/>
          <p:nvPr/>
        </p:nvSpPr>
        <p:spPr>
          <a:xfrm>
            <a:off x="5029200" y="6217920"/>
            <a:ext cx="457200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FINAL RELIABILITY-AWARE</a:t>
            </a:r>
            <a:br/>
            <a:r>
              <a:t>EXPLANATION</a:t>
            </a:r>
          </a:p>
          <a:p>
            <a:pPr algn="ctr">
              <a:defRPr sz="1100">
                <a:solidFill>
                  <a:srgbClr val="4FD1C5"/>
                </a:solidFill>
                <a:latin typeface="Arial"/>
              </a:defRPr>
            </a:pPr>
            <a:r>
              <a:t>Verdict + Influence + Reliability</a:t>
            </a:r>
          </a:p>
        </p:txBody>
      </p:sp>
      <p:sp>
        <p:nvSpPr>
          <p:cNvPr id="18" name="Right Arrow 17"/>
          <p:cNvSpPr/>
          <p:nvPr/>
        </p:nvSpPr>
        <p:spPr>
          <a:xfrm>
            <a:off x="3840480" y="2834640"/>
            <a:ext cx="27432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7040880" y="2834640"/>
            <a:ext cx="73152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ight Arrow 19"/>
          <p:cNvSpPr/>
          <p:nvPr/>
        </p:nvSpPr>
        <p:spPr>
          <a:xfrm>
            <a:off x="10698480" y="2834640"/>
            <a:ext cx="27432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own Arrow 20"/>
          <p:cNvSpPr/>
          <p:nvPr/>
        </p:nvSpPr>
        <p:spPr>
          <a:xfrm>
            <a:off x="12527280" y="3383280"/>
            <a:ext cx="182880" cy="91440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Left Arrow 21"/>
          <p:cNvSpPr/>
          <p:nvPr/>
        </p:nvSpPr>
        <p:spPr>
          <a:xfrm>
            <a:off x="10698480" y="4663440"/>
            <a:ext cx="274320" cy="182880"/>
          </a:xfrm>
          <a:prstGeom prst="lef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ft Arrow 22"/>
          <p:cNvSpPr/>
          <p:nvPr/>
        </p:nvSpPr>
        <p:spPr>
          <a:xfrm>
            <a:off x="7040880" y="4663440"/>
            <a:ext cx="731520" cy="182880"/>
          </a:xfrm>
          <a:prstGeom prst="lef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Left Arrow 23"/>
          <p:cNvSpPr/>
          <p:nvPr/>
        </p:nvSpPr>
        <p:spPr>
          <a:xfrm>
            <a:off x="3840480" y="4663440"/>
            <a:ext cx="274320" cy="182880"/>
          </a:xfrm>
          <a:prstGeom prst="lef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wn Arrow 24"/>
          <p:cNvSpPr/>
          <p:nvPr/>
        </p:nvSpPr>
        <p:spPr>
          <a:xfrm rot="10800000" flipH="1">
            <a:off x="2103120" y="5212080"/>
            <a:ext cx="2926080" cy="1645920"/>
          </a:xfrm>
          <a:prstGeom prst="bentArrow">
            <a:avLst>
              <a:gd name="adj1" fmla="val 6655"/>
              <a:gd name="adj2" fmla="val 9073"/>
              <a:gd name="adj3" fmla="val 11338"/>
              <a:gd name="adj4" fmla="val 43750"/>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7315200"/>
            <a:ext cx="3657600" cy="457200"/>
          </a:xfrm>
          <a:prstGeom prst="rect">
            <a:avLst/>
          </a:prstGeom>
          <a:noFill/>
        </p:spPr>
        <p:txBody>
          <a:bodyPr wrap="square">
            <a:spAutoFit/>
          </a:bodyPr>
          <a:lstStyle/>
          <a:p>
            <a:pPr algn="l">
              <a:defRPr sz="1400" b="1" i="0">
                <a:solidFill>
                  <a:srgbClr val="F6AD55"/>
                </a:solidFill>
                <a:latin typeface="Arial"/>
              </a:defRPr>
            </a:pPr>
            <a:r>
              <a:t>INPUT: Claim + Retrieved Evidence</a:t>
            </a:r>
          </a:p>
        </p:txBody>
      </p:sp>
      <p:sp>
        <p:nvSpPr>
          <p:cNvPr id="28" name="TextBox 27"/>
          <p:cNvSpPr txBox="1"/>
          <p:nvPr/>
        </p:nvSpPr>
        <p:spPr>
          <a:xfrm>
            <a:off x="9144000" y="7315200"/>
            <a:ext cx="5029200" cy="457200"/>
          </a:xfrm>
          <a:prstGeom prst="rect">
            <a:avLst/>
          </a:prstGeom>
          <a:noFill/>
        </p:spPr>
        <p:txBody>
          <a:bodyPr wrap="square">
            <a:spAutoFit/>
          </a:bodyPr>
          <a:lstStyle/>
          <a:p>
            <a:pPr algn="l">
              <a:defRPr sz="1200" b="1" i="0">
                <a:solidFill>
                  <a:srgbClr val="F6AD55"/>
                </a:solidFill>
                <a:latin typeface="Arial"/>
              </a:defRPr>
            </a:pPr>
            <a:r>
              <a:t>OUTPUT: Verdict + Attribution + Causal Influence + Reliability + Explanation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72C"/>
        </a:solidFill>
        <a:effectLst/>
      </p:bgPr>
    </p:bg>
    <p:spTree>
      <p:nvGrpSpPr>
        <p:cNvPr id="1" name=""/>
        <p:cNvGrpSpPr/>
        <p:nvPr/>
      </p:nvGrpSpPr>
      <p:grpSpPr>
        <a:xfrm>
          <a:off x="0" y="0"/>
          <a:ext cx="0" cy="0"/>
          <a:chOff x="0" y="0"/>
          <a:chExt cx="0" cy="0"/>
        </a:xfrm>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6</a:t>
            </a:r>
          </a:p>
        </p:txBody>
      </p:sp>
      <p:sp>
        <p:nvSpPr>
          <p:cNvPr id="7" name="TextBox 6"/>
          <p:cNvSpPr txBox="1"/>
          <p:nvPr/>
        </p:nvSpPr>
        <p:spPr>
          <a:xfrm>
            <a:off x="914400" y="731520"/>
            <a:ext cx="9144000" cy="457200"/>
          </a:xfrm>
          <a:prstGeom prst="rect">
            <a:avLst/>
          </a:prstGeom>
          <a:noFill/>
        </p:spPr>
        <p:txBody>
          <a:bodyPr wrap="square">
            <a:spAutoFit/>
          </a:bodyPr>
          <a:lstStyle/>
          <a:p>
            <a:pPr algn="l">
              <a:defRPr sz="1200" b="1" i="0">
                <a:solidFill>
                  <a:srgbClr val="F6AD55"/>
                </a:solidFill>
                <a:latin typeface="Arial"/>
              </a:defRPr>
            </a:pPr>
            <a:r>
              <a:t>PROJECT OUTCOMES</a:t>
            </a:r>
          </a:p>
        </p:txBody>
      </p:sp>
      <p:sp>
        <p:nvSpPr>
          <p:cNvPr id="8" name="TextBox 7"/>
          <p:cNvSpPr txBox="1"/>
          <p:nvPr/>
        </p:nvSpPr>
        <p:spPr>
          <a:xfrm>
            <a:off x="914400" y="1097280"/>
            <a:ext cx="10972800" cy="914400"/>
          </a:xfrm>
          <a:prstGeom prst="rect">
            <a:avLst/>
          </a:prstGeom>
          <a:noFill/>
        </p:spPr>
        <p:txBody>
          <a:bodyPr wrap="square">
            <a:spAutoFit/>
          </a:bodyPr>
          <a:lstStyle/>
          <a:p>
            <a:pPr algn="l">
              <a:defRPr sz="4000" b="1" i="0">
                <a:solidFill>
                  <a:srgbClr val="FFFFFF"/>
                </a:solidFill>
                <a:latin typeface="Arial"/>
              </a:defRPr>
            </a:pPr>
            <a:r>
              <a:t>Expected Results</a:t>
            </a:r>
          </a:p>
        </p:txBody>
      </p:sp>
      <p:sp>
        <p:nvSpPr>
          <p:cNvPr id="9" name="TextBox 8"/>
          <p:cNvSpPr txBox="1"/>
          <p:nvPr/>
        </p:nvSpPr>
        <p:spPr>
          <a:xfrm>
            <a:off x="457200" y="2034540"/>
            <a:ext cx="8686800" cy="4519186"/>
          </a:xfrm>
          <a:prstGeom prst="rect">
            <a:avLst/>
          </a:prstGeom>
          <a:noFill/>
        </p:spPr>
        <p:txBody>
          <a:bodyPr wrap="square">
            <a:spAutoFit/>
          </a:bodyPr>
          <a:lstStyle/>
          <a:p>
            <a:endParaRPr dirty="0"/>
          </a:p>
          <a:p>
            <a:pPr>
              <a:lnSpc>
                <a:spcPct val="150000"/>
              </a:lnSpc>
              <a:defRPr sz="1600" b="1">
                <a:solidFill>
                  <a:srgbClr val="FFFFFF"/>
                </a:solidFill>
                <a:latin typeface="Arial"/>
              </a:defRPr>
            </a:pPr>
            <a:r>
              <a:rPr dirty="0"/>
              <a:t>1. More transparent fact-checking</a:t>
            </a:r>
          </a:p>
          <a:p>
            <a:pPr>
              <a:spcAft>
                <a:spcPts val="1000"/>
              </a:spcAft>
              <a:defRPr sz="1400">
                <a:solidFill>
                  <a:srgbClr val="A0AEC0"/>
                </a:solidFill>
                <a:latin typeface="Arial"/>
              </a:defRPr>
            </a:pPr>
            <a:r>
              <a:rPr dirty="0"/>
              <a:t>Provides evidence-level explanations rather than only a final verdict.</a:t>
            </a:r>
          </a:p>
          <a:p>
            <a:pPr>
              <a:lnSpc>
                <a:spcPct val="150000"/>
              </a:lnSpc>
              <a:defRPr sz="1600" b="1">
                <a:solidFill>
                  <a:srgbClr val="FFFFFF"/>
                </a:solidFill>
                <a:latin typeface="Arial"/>
              </a:defRPr>
            </a:pPr>
            <a:r>
              <a:rPr dirty="0"/>
              <a:t>2. Better faithfulness assessment</a:t>
            </a:r>
          </a:p>
          <a:p>
            <a:pPr>
              <a:spcAft>
                <a:spcPts val="1000"/>
              </a:spcAft>
              <a:defRPr sz="1400">
                <a:solidFill>
                  <a:srgbClr val="A0AEC0"/>
                </a:solidFill>
                <a:latin typeface="Arial"/>
              </a:defRPr>
            </a:pPr>
            <a:r>
              <a:rPr dirty="0"/>
              <a:t>Intervention testing distinguishes apparent attribution from actual decision drivers.</a:t>
            </a:r>
          </a:p>
          <a:p>
            <a:pPr>
              <a:lnSpc>
                <a:spcPct val="150000"/>
              </a:lnSpc>
              <a:defRPr sz="1600" b="1">
                <a:solidFill>
                  <a:srgbClr val="FFFFFF"/>
                </a:solidFill>
                <a:latin typeface="Arial"/>
              </a:defRPr>
            </a:pPr>
            <a:r>
              <a:rPr dirty="0"/>
              <a:t>3. Continuous evidence assessment</a:t>
            </a:r>
          </a:p>
          <a:p>
            <a:pPr>
              <a:spcAft>
                <a:spcPts val="1000"/>
              </a:spcAft>
              <a:defRPr sz="1400">
                <a:solidFill>
                  <a:srgbClr val="A0AEC0"/>
                </a:solidFill>
                <a:latin typeface="Arial"/>
              </a:defRPr>
            </a:pPr>
            <a:r>
              <a:rPr dirty="0"/>
              <a:t>Fuzzy reasoning represents evidence as degrees (support, contradiction) instead of rigid labels.</a:t>
            </a:r>
          </a:p>
          <a:p>
            <a:pPr>
              <a:lnSpc>
                <a:spcPct val="150000"/>
              </a:lnSpc>
              <a:defRPr sz="1600" b="1">
                <a:solidFill>
                  <a:srgbClr val="FFFFFF"/>
                </a:solidFill>
                <a:latin typeface="Arial"/>
              </a:defRPr>
            </a:pPr>
            <a:r>
              <a:rPr dirty="0"/>
              <a:t>4. Conflict-aware explanations</a:t>
            </a:r>
          </a:p>
          <a:p>
            <a:pPr>
              <a:spcAft>
                <a:spcPts val="1000"/>
              </a:spcAft>
              <a:defRPr sz="1400">
                <a:solidFill>
                  <a:srgbClr val="A0AEC0"/>
                </a:solidFill>
                <a:latin typeface="Arial"/>
              </a:defRPr>
            </a:pPr>
            <a:r>
              <a:rPr dirty="0"/>
              <a:t>Explicitly identifies supporting and refuting evidence when sources disagree.</a:t>
            </a:r>
          </a:p>
          <a:p>
            <a:pPr>
              <a:lnSpc>
                <a:spcPct val="150000"/>
              </a:lnSpc>
              <a:defRPr sz="1600" b="1">
                <a:solidFill>
                  <a:srgbClr val="FFFFFF"/>
                </a:solidFill>
                <a:latin typeface="Arial"/>
              </a:defRPr>
            </a:pPr>
            <a:r>
              <a:rPr dirty="0"/>
              <a:t>5. More robust explanations</a:t>
            </a:r>
          </a:p>
          <a:p>
            <a:pPr>
              <a:spcAft>
                <a:spcPts val="1000"/>
              </a:spcAft>
              <a:defRPr sz="1400">
                <a:solidFill>
                  <a:srgbClr val="A0AEC0"/>
                </a:solidFill>
                <a:latin typeface="Arial"/>
              </a:defRPr>
            </a:pPr>
            <a:r>
              <a:rPr dirty="0"/>
              <a:t>Stability analysis indicates consistent evidence rankings under perturbations.</a:t>
            </a:r>
          </a:p>
          <a:p>
            <a:pPr>
              <a:lnSpc>
                <a:spcPct val="150000"/>
              </a:lnSpc>
              <a:defRPr sz="1600" b="1">
                <a:solidFill>
                  <a:srgbClr val="FFFFFF"/>
                </a:solidFill>
                <a:latin typeface="Arial"/>
              </a:defRPr>
            </a:pPr>
            <a:r>
              <a:rPr dirty="0"/>
              <a:t>6. Reliability-aware decisions</a:t>
            </a:r>
          </a:p>
          <a:p>
            <a:pPr>
              <a:spcAft>
                <a:spcPts val="1000"/>
              </a:spcAft>
              <a:defRPr sz="1400">
                <a:solidFill>
                  <a:srgbClr val="A0AEC0"/>
                </a:solidFill>
                <a:latin typeface="Arial"/>
              </a:defRPr>
            </a:pPr>
            <a:r>
              <a:rPr dirty="0"/>
              <a:t>Communicates verdict alongside confidence and explanation reliability.</a:t>
            </a:r>
          </a:p>
        </p:txBody>
      </p:sp>
      <p:sp>
        <p:nvSpPr>
          <p:cNvPr id="10" name="Rounded Rectangle 9"/>
          <p:cNvSpPr/>
          <p:nvPr/>
        </p:nvSpPr>
        <p:spPr>
          <a:xfrm>
            <a:off x="9326880" y="2468880"/>
            <a:ext cx="4846320" cy="41148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6AD55"/>
                </a:solidFill>
                <a:latin typeface="Arial"/>
              </a:defRPr>
            </a:pPr>
            <a:r>
              <a:t>Illustrative Expected Output</a:t>
            </a:r>
          </a:p>
          <a:p>
            <a:r>
              <a:rPr sz="1400" b="1">
                <a:solidFill>
                  <a:srgbClr val="4FD1C5"/>
                </a:solidFill>
              </a:rPr>
              <a:t>
CLAIM:</a:t>
            </a:r>
            <a:r>
              <a:rPr sz="1400">
                <a:solidFill>
                  <a:srgbClr val="FFFFFF"/>
                </a:solidFill>
              </a:rPr>
              <a:t> “JWST was launched in 2021.”</a:t>
            </a:r>
          </a:p>
          <a:p>
            <a:r>
              <a:rPr sz="1400" b="1">
                <a:solidFill>
                  <a:srgbClr val="4FD1C5"/>
                </a:solidFill>
              </a:rPr>
              <a:t>
VERDICT:</a:t>
            </a:r>
            <a:r>
              <a:rPr sz="1400">
                <a:solidFill>
                  <a:srgbClr val="FFFFFF"/>
                </a:solidFill>
              </a:rPr>
              <a:t> SUPPORTED</a:t>
            </a:r>
          </a:p>
          <a:p>
            <a:r>
              <a:rPr sz="1400" b="1">
                <a:solidFill>
                  <a:srgbClr val="4FD1C5"/>
                </a:solidFill>
              </a:rPr>
              <a:t>
Most influential evidence:</a:t>
            </a:r>
            <a:r>
              <a:rPr sz="1400">
                <a:solidFill>
                  <a:srgbClr val="FFFFFF"/>
                </a:solidFill>
              </a:rPr>
              <a:t> E1</a:t>
            </a:r>
          </a:p>
          <a:p>
            <a:r>
              <a:rPr sz="1400" b="1">
                <a:solidFill>
                  <a:srgbClr val="4FD1C5"/>
                </a:solidFill>
              </a:rPr>
              <a:t>
Causal influence:</a:t>
            </a:r>
            <a:r>
              <a:rPr sz="1400">
                <a:solidFill>
                  <a:srgbClr val="FFFFFF"/>
                </a:solidFill>
              </a:rPr>
              <a:t> High</a:t>
            </a:r>
          </a:p>
          <a:p>
            <a:r>
              <a:rPr sz="1400" b="1">
                <a:solidFill>
                  <a:srgbClr val="4FD1C5"/>
                </a:solidFill>
              </a:rPr>
              <a:t>Explanation reliability:</a:t>
            </a:r>
            <a:r>
              <a:rPr sz="1400">
                <a:solidFill>
                  <a:srgbClr val="FFFFFF"/>
                </a:solidFill>
              </a:rPr>
              <a:t> High</a:t>
            </a:r>
          </a:p>
          <a:p>
            <a:r>
              <a:rPr sz="1400" b="1">
                <a:solidFill>
                  <a:srgbClr val="4FD1C5"/>
                </a:solidFill>
              </a:rPr>
              <a:t>Explanation stability:</a:t>
            </a:r>
            <a:r>
              <a:rPr sz="1400">
                <a:solidFill>
                  <a:srgbClr val="FFFFFF"/>
                </a:solidFill>
              </a:rPr>
              <a:t> High</a:t>
            </a:r>
          </a:p>
          <a:p>
            <a:r>
              <a:rPr sz="1400" b="1">
                <a:solidFill>
                  <a:srgbClr val="4FD1C5"/>
                </a:solidFill>
              </a:rPr>
              <a:t>Conflict level:</a:t>
            </a:r>
            <a:r>
              <a:rPr sz="1400">
                <a:solidFill>
                  <a:srgbClr val="FFFFFF"/>
                </a:solidFill>
              </a:rPr>
              <a:t> Low</a:t>
            </a:r>
          </a:p>
          <a:p>
            <a:r>
              <a:rPr sz="1400" b="1">
                <a:solidFill>
                  <a:srgbClr val="4FD1C5"/>
                </a:solidFill>
              </a:rPr>
              <a:t>
Reason:</a:t>
            </a:r>
            <a:r>
              <a:rPr sz="1400">
                <a:solidFill>
                  <a:srgbClr val="FFFFFF"/>
                </a:solidFill>
              </a:rPr>
              <a:t> Removing the key evidence changes the verifier's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715</Words>
  <Application>Microsoft Office PowerPoint</Application>
  <PresentationFormat>Custom</PresentationFormat>
  <Paragraphs>123</Paragraphs>
  <Slides>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23-733-006_CHENNAVARAM BALA DHEERAJ</cp:lastModifiedBy>
  <cp:revision>9</cp:revision>
  <dcterms:created xsi:type="dcterms:W3CDTF">2013-01-27T09:14:16Z</dcterms:created>
  <dcterms:modified xsi:type="dcterms:W3CDTF">2026-08-20T04:47:07Z</dcterms:modified>
  <cp:category/>
</cp:coreProperties>
</file>